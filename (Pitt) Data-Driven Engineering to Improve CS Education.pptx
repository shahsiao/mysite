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embeddedFontLst>
    <p:embeddedFont>
      <p:font typeface="Playfair Displ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1B8D38-4C06-4045-B205-D46D7BE138A5}">
  <a:tblStyle styleId="{901B8D38-4C06-4045-B205-D46D7BE138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layfairDisplay-bold.fntdata"/><Relationship Id="rId50" Type="http://schemas.openxmlformats.org/officeDocument/2006/relationships/font" Target="fonts/PlayfairDisplay-regular.fntdata"/><Relationship Id="rId53" Type="http://schemas.openxmlformats.org/officeDocument/2006/relationships/font" Target="fonts/PlayfairDisplay-boldItalic.fntdata"/><Relationship Id="rId52" Type="http://schemas.openxmlformats.org/officeDocument/2006/relationships/font" Target="fonts/PlayfairDisplay-italic.fntdata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ites.google.com/asu.edu/ogmented/home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530518c1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530518c1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7b14802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b7b14802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92d5fe00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92d5fe00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92d5fe00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92d5fe00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92d5fe00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92d5fe00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4.5 PhD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Undergrads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a lifetime outstanding faculty award in 2019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9450504b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9450504b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9450504b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9450504b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92d5fe00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b92d5fe0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b92d5fe00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530518c11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b530518c11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b530518c1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b530518c1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b92d5fe00c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b92d5fe00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b92d5fe00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b92d5fe00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b92d5fe00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b92d5fe00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92d5fe00c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92d5fe00c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•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Univariate k-means clustering used for finding duration break points, best BIC for k=4  : -39192.96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: First occurrence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:  6.3287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: 121.0022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 : 394.4931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 : 914.5216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–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XL : &gt;914.5216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92d5fe00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92d5fe00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DSM algorithm,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gap constraint :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I.e. P- B-X-Q-S-R, a frequent pattern &lt;P-Q-R&gt;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92d5fe00c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92d5fe00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b92d5fe00c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b92d5fe00c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Mandal, P., &amp; Hsiao, I. H. (2018). Using Differential Mining to Explore Bite-Size Problem Solving Practices. In </a:t>
            </a:r>
            <a:r>
              <a:rPr i="1" lang="en">
                <a:solidFill>
                  <a:schemeClr val="dk1"/>
                </a:solidFill>
              </a:rPr>
              <a:t>Educational Data Mining in Computer Science Education (CSEDM) Workshop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Mandal, P. P. (2017). </a:t>
            </a:r>
            <a:r>
              <a:rPr i="1" lang="en">
                <a:solidFill>
                  <a:schemeClr val="dk1"/>
                </a:solidFill>
              </a:rPr>
              <a:t>Behavioral Pattern Mining and Modeling in Programming Problem Solving</a:t>
            </a:r>
            <a:r>
              <a:rPr lang="en">
                <a:solidFill>
                  <a:schemeClr val="dk1"/>
                </a:solidFill>
              </a:rPr>
              <a:t> (Masters thesis, Arizona State University).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b92d5fe00c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b92d5fe00c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Mandal, P. P. (2017). </a:t>
            </a:r>
            <a:r>
              <a:rPr i="1" lang="en">
                <a:solidFill>
                  <a:schemeClr val="dk1"/>
                </a:solidFill>
              </a:rPr>
              <a:t>Behavioral Pattern Mining and Modeling in Programming Problem Solving</a:t>
            </a:r>
            <a:r>
              <a:rPr lang="en">
                <a:solidFill>
                  <a:schemeClr val="dk1"/>
                </a:solidFill>
              </a:rPr>
              <a:t> (Masters Thesis, Arizona State University).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b92d5fe00c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b92d5fe00c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b530518c11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b530518c11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92d5fe00c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b92d5fe00c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b92d5fe00c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b92d5fe00c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C. Y. C., &amp; I. H. H. (2019, October). Quantitative Analytics in Exploring Self-Regulated Learning Behaviors: Effects of Study Persistence and Regularity. In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2019 IEEE Frontiers in Education Conference (FIE)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(pp. 1-9). IEEE.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b92d5fe00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b92d5fe00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Chung, C. Y., &amp; Hsiao, I. H. (2020, February). Investigating Patterns of Study Persistence on Self-Assessment Platform of Programming Problem-Solving. In </a:t>
            </a:r>
            <a:r>
              <a:rPr i="1" lang="en">
                <a:solidFill>
                  <a:schemeClr val="dk1"/>
                </a:solidFill>
              </a:rPr>
              <a:t>Proceedings of the 51st ACM Technical Symposium on Computer Science Education</a:t>
            </a:r>
            <a:r>
              <a:rPr lang="en">
                <a:solidFill>
                  <a:schemeClr val="dk1"/>
                </a:solidFill>
              </a:rPr>
              <a:t> (pp. 162-168).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b92d5fe00c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b92d5fe00c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Chung, C. Y., Yu, C., Paredes, Y. V., Alzaid, M., Papakannu, K. R., &amp; Hsiao, I. H. A Longitudinal Study on Student Persistence in Programming Self-assessments. (2020, July) In Proceedings of the fourth of CSEDM workshop.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b92d5fe00c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b92d5fe00c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b92d5fe00c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b92d5fe00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b92d5fe00c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b92d5fe00c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b92d5fe00c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b92d5fe00c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30518c11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b530518c11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b92d5fe00c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b92d5fe00c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N. M. Seel, </a:t>
            </a:r>
            <a:r>
              <a:rPr i="1" lang="en" sz="800">
                <a:solidFill>
                  <a:schemeClr val="dk1"/>
                </a:solidFill>
              </a:rPr>
              <a:t>Encyclopedia of the Sciences of Learning</a:t>
            </a:r>
            <a:r>
              <a:rPr lang="en" sz="800">
                <a:solidFill>
                  <a:schemeClr val="dk1"/>
                </a:solidFill>
              </a:rPr>
              <a:t>. Springer Science &amp; Business Media, 2011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J. Dewey, “My pedagogic creed,” in </a:t>
            </a:r>
            <a:r>
              <a:rPr i="1" lang="en" sz="800">
                <a:solidFill>
                  <a:schemeClr val="dk1"/>
                </a:solidFill>
              </a:rPr>
              <a:t>Curriculum Studies Reader E2</a:t>
            </a:r>
            <a:r>
              <a:rPr lang="en" sz="800">
                <a:solidFill>
                  <a:schemeClr val="dk1"/>
                </a:solidFill>
              </a:rPr>
              <a:t>. Routledge, 2013, pp. 29–35.		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P. C. Blumenfeld, E. Soloway, R. W. Marx, J. S. Krajcik, M. Guzdial, and A. Palincsar, “Motivating project-based learning: Sustaining the doing, supporting the learning,” </a:t>
            </a:r>
            <a:r>
              <a:rPr i="1" lang="en" sz="800">
                <a:solidFill>
                  <a:schemeClr val="dk1"/>
                </a:solidFill>
              </a:rPr>
              <a:t>Educational psychologist</a:t>
            </a:r>
            <a:r>
              <a:rPr lang="en" sz="800">
                <a:solidFill>
                  <a:schemeClr val="dk1"/>
                </a:solidFill>
              </a:rPr>
              <a:t>, vol. 26, no. 3-4, pp. 369–398, 1991.						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D. Klahr and M. Nigam, “The equivalence of learning paths in early science instruction: Effects of direct instruction and discovery learning,” </a:t>
            </a:r>
            <a:r>
              <a:rPr i="1" lang="en" sz="800">
                <a:solidFill>
                  <a:schemeClr val="dk1"/>
                </a:solidFill>
              </a:rPr>
              <a:t>Psychological science</a:t>
            </a:r>
            <a:r>
              <a:rPr lang="en" sz="800">
                <a:solidFill>
                  <a:schemeClr val="dk1"/>
                </a:solidFill>
              </a:rPr>
              <a:t>, vol. 15, no. 10, pp. 661–667, 2004.</a:t>
            </a:r>
            <a:br>
              <a:rPr lang="en" sz="800">
                <a:solidFill>
                  <a:schemeClr val="dk1"/>
                </a:solidFill>
              </a:rPr>
            </a:br>
            <a:endParaRPr sz="8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b92d5fe00c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b92d5fe00c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website: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https://sites.google.com/asu.edu/ogmented/home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b92d5fe00c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b92d5fe00c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b92d5fe00c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b92d5fe00c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V. J. Shute, C. Sun, and J. Asbell-Clarke, “Demystifying computational thinking,” </a:t>
            </a:r>
            <a:r>
              <a:rPr i="1" lang="en"/>
              <a:t>Educational Research Review</a:t>
            </a:r>
            <a:r>
              <a:rPr lang="en"/>
              <a:t>, vol. 22, pp. 142–158, 2017.</a:t>
            </a:r>
            <a:br>
              <a:rPr lang="en"/>
            </a:br>
            <a:r>
              <a:rPr lang="en"/>
              <a:t> 			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b92d5fe00c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b92d5fe00c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Chung, C. Y., &amp; Hsiao, I. H. (2019, March). An exploratory study of augmented embodiment for computational thinking. In </a:t>
            </a:r>
            <a:r>
              <a:rPr i="1" lang="en" sz="900">
                <a:solidFill>
                  <a:schemeClr val="dk1"/>
                </a:solidFill>
              </a:rPr>
              <a:t>Proceedings of the 24th International Conference on Intelligent User Interfaces: Companion</a:t>
            </a:r>
            <a:r>
              <a:rPr lang="en" sz="900">
                <a:solidFill>
                  <a:schemeClr val="dk1"/>
                </a:solidFill>
              </a:rPr>
              <a:t> (pp. 37-38).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Chung, C. Y., &amp; Hsiao, I. H. (2020, June). Computational Thinking in Augmented Reality: An Investigation of Collaborative Debugging Practices. In </a:t>
            </a:r>
            <a:r>
              <a:rPr i="1" lang="en" sz="900">
                <a:solidFill>
                  <a:schemeClr val="dk1"/>
                </a:solidFill>
              </a:rPr>
              <a:t>2020 6th International Conference of the Immersive Learning Research Network (iLRN)</a:t>
            </a:r>
            <a:r>
              <a:rPr lang="en" sz="900">
                <a:solidFill>
                  <a:schemeClr val="dk1"/>
                </a:solidFill>
              </a:rPr>
              <a:t> (pp. 54-61). IEEE.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b92d5fe00c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b92d5fe00c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b92d5fe00c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b92d5fe00c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Measured by edit distance (longest common subsequences).</a:t>
            </a:r>
            <a:endParaRPr sz="5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b92d5fe00c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b92d5fe00c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b92d5fe00c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b92d5fe00c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Susan R. Fussell, Robert E. Kraut, and Jane Siegel. 2000. Coordination of communication. In Proceedings of the 2000 ACM conference on Computer supported cooperative work - CSCW ’00. ACM Press, New York, New York, USA, 21–30. https://doi.org/10.1145/358916.358947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92d5fe00c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92d5fe00c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92d5fe00c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92d5fe00c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b92d5fe00c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b92d5fe00c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188066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with text">
  <p:cSld name="TITLE_ONLY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100575" y="1204825"/>
            <a:ext cx="8031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public.asu.edu/~ihsiao1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hyperlink" Target="https://sites.google.com/a/asu.edu/csi/home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0.jpg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jpg"/><Relationship Id="rId4" Type="http://schemas.openxmlformats.org/officeDocument/2006/relationships/image" Target="../media/image23.jpg"/><Relationship Id="rId5" Type="http://schemas.openxmlformats.org/officeDocument/2006/relationships/image" Target="../media/image30.jpg"/><Relationship Id="rId6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40.jpg"/><Relationship Id="rId5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Relationship Id="rId4" Type="http://schemas.openxmlformats.org/officeDocument/2006/relationships/image" Target="../media/image42.jpg"/><Relationship Id="rId5" Type="http://schemas.openxmlformats.org/officeDocument/2006/relationships/image" Target="../media/image50.jpg"/><Relationship Id="rId6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www.public.asu.edu/~ihsiao1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4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Data-Driven Engineering to Improve CS Education</a:t>
            </a:r>
            <a:endParaRPr/>
          </a:p>
        </p:txBody>
      </p:sp>
      <p:sp>
        <p:nvSpPr>
          <p:cNvPr id="124" name="Google Shape;124;p27"/>
          <p:cNvSpPr txBox="1"/>
          <p:nvPr>
            <p:ph idx="1" type="subTitle"/>
          </p:nvPr>
        </p:nvSpPr>
        <p:spPr>
          <a:xfrm>
            <a:off x="311700" y="2834125"/>
            <a:ext cx="8520600" cy="15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Sharon Hsiao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Arizona State University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2021.01.28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http://www.public.asu.edu/~ihsiao1/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@shoha99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Introduction </a:t>
            </a:r>
            <a:endParaRPr sz="18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Research projects:</a:t>
            </a:r>
            <a:endParaRPr sz="22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R1: </a:t>
            </a:r>
            <a:r>
              <a:rPr lang="en" sz="1800"/>
              <a:t>Behavioral Analytics and Modeling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R2: Learning Computational Thinking in Augmented Reality</a:t>
            </a:r>
            <a:r>
              <a:rPr lang="en" sz="1800"/>
              <a:t> </a:t>
            </a:r>
            <a:endParaRPr sz="18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Q&amp;A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12" y="2795600"/>
            <a:ext cx="3001625" cy="225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100" y="178800"/>
            <a:ext cx="3001625" cy="225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6051" y="1245391"/>
            <a:ext cx="5068574" cy="38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311700" y="11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background: </a:t>
            </a:r>
            <a:r>
              <a:rPr b="1" i="1" lang="en">
                <a:solidFill>
                  <a:srgbClr val="0000FF"/>
                </a:solidFill>
              </a:rPr>
              <a:t>Information &amp; Data Sciences</a:t>
            </a:r>
            <a:endParaRPr b="1" i="1">
              <a:solidFill>
                <a:srgbClr val="0000FF"/>
              </a:solidFill>
            </a:endParaRPr>
          </a:p>
        </p:txBody>
      </p:sp>
      <p:pic>
        <p:nvPicPr>
          <p:cNvPr id="143" name="Google Shape;1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200" y="849875"/>
            <a:ext cx="7445952" cy="42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244" y="1536775"/>
            <a:ext cx="661850" cy="14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162125"/>
            <a:ext cx="8839197" cy="243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00" y="672050"/>
            <a:ext cx="6475377" cy="431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2"/>
          <p:cNvSpPr txBox="1"/>
          <p:nvPr/>
        </p:nvSpPr>
        <p:spPr>
          <a:xfrm>
            <a:off x="321800" y="94175"/>
            <a:ext cx="6856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CSI (</a:t>
            </a:r>
            <a:r>
              <a:rPr b="1"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omputing </a:t>
            </a:r>
            <a:r>
              <a:rPr b="1"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ystems &amp; </a:t>
            </a:r>
            <a:r>
              <a:rPr b="1"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nformatics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Lab @ ASU</a:t>
            </a:r>
            <a:endParaRPr sz="2400"/>
          </a:p>
        </p:txBody>
      </p:sp>
      <p:sp>
        <p:nvSpPr>
          <p:cNvPr id="156" name="Google Shape;156;p32"/>
          <p:cNvSpPr txBox="1"/>
          <p:nvPr/>
        </p:nvSpPr>
        <p:spPr>
          <a:xfrm>
            <a:off x="6958900" y="1834050"/>
            <a:ext cx="211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https://sites.google.com/a/asu.edu/csi/home</a:t>
            </a:r>
            <a:endParaRPr/>
          </a:p>
        </p:txBody>
      </p:sp>
      <p:pic>
        <p:nvPicPr>
          <p:cNvPr descr="qrcode.31873461.png" id="157" name="Google Shape;15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1802" y="-305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2"/>
          <p:cNvSpPr txBox="1"/>
          <p:nvPr/>
        </p:nvSpPr>
        <p:spPr>
          <a:xfrm>
            <a:off x="6958900" y="2455375"/>
            <a:ext cx="21108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Sharon Hsiao ASU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http://www.public.asu.edu/~ihsiao1/</a:t>
            </a:r>
            <a:endParaRPr/>
          </a:p>
        </p:txBody>
      </p:sp>
      <p:pic>
        <p:nvPicPr>
          <p:cNvPr descr="270" id="159" name="Google Shape;159;p32"/>
          <p:cNvPicPr preferRelativeResize="0"/>
          <p:nvPr/>
        </p:nvPicPr>
        <p:blipFill>
          <a:blip r:embed="rId6">
            <a:alphaModFix amt="51000"/>
          </a:blip>
          <a:stretch>
            <a:fillRect/>
          </a:stretch>
        </p:blipFill>
        <p:spPr>
          <a:xfrm>
            <a:off x="7178600" y="3755571"/>
            <a:ext cx="1658650" cy="12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75" y="152400"/>
            <a:ext cx="3225799" cy="24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300" y="1330375"/>
            <a:ext cx="4836276" cy="36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359075" y="2787100"/>
            <a:ext cx="331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">
                <a:solidFill>
                  <a:schemeClr val="dk1"/>
                </a:solidFill>
              </a:rPr>
              <a:t>Closing the Loop on Personalized Programming Learning in Blended Instruction Classes (2016)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5827625" y="874150"/>
            <a:ext cx="17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HT’2016 @ Halifax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28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time...some of the research questions...</a:t>
            </a:r>
            <a:endParaRPr/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311700" y="949775"/>
            <a:ext cx="6770100" cy="40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0"/>
              <a:buChar char="•"/>
            </a:pP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much do novices learn programming in </a:t>
            </a:r>
            <a:r>
              <a:rPr i="1"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Just-In-Time </a:t>
            </a: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learning paradigm?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792"/>
              </a:spcBef>
              <a:spcAft>
                <a:spcPts val="0"/>
              </a:spcAft>
              <a:buClr>
                <a:srgbClr val="000000"/>
              </a:buClr>
              <a:buSzPts val="2760"/>
              <a:buChar char="•"/>
            </a:pP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integrate </a:t>
            </a:r>
            <a:r>
              <a:rPr i="1"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formal</a:t>
            </a: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i="1"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informal</a:t>
            </a: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learning analytics bridge the gap between cyber and physical programming classes?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1792"/>
              </a:spcBef>
              <a:spcAft>
                <a:spcPts val="0"/>
              </a:spcAft>
              <a:buClr>
                <a:srgbClr val="000000"/>
              </a:buClr>
              <a:buSzPts val="2760"/>
              <a:buChar char="•"/>
            </a:pP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design </a:t>
            </a:r>
            <a:r>
              <a:rPr i="1"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generation </a:t>
            </a: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i="1"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7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automated assessment tools to assist computing education? (i.e. examples in math)</a:t>
            </a:r>
            <a:endParaRPr sz="1600"/>
          </a:p>
        </p:txBody>
      </p:sp>
      <p:sp>
        <p:nvSpPr>
          <p:cNvPr id="174" name="Google Shape;174;p34"/>
          <p:cNvSpPr txBox="1"/>
          <p:nvPr/>
        </p:nvSpPr>
        <p:spPr>
          <a:xfrm>
            <a:off x="7145150" y="1798975"/>
            <a:ext cx="1834200" cy="19086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technology that integrates analytics to address and support the potential </a:t>
            </a:r>
            <a:r>
              <a:rPr lang="en">
                <a:solidFill>
                  <a:srgbClr val="CC0000"/>
                </a:solidFill>
              </a:rPr>
              <a:t>weak link between Assessment and Instruction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idx="1" type="body"/>
          </p:nvPr>
        </p:nvSpPr>
        <p:spPr>
          <a:xfrm>
            <a:off x="76350" y="1831200"/>
            <a:ext cx="89913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rgbClr val="FF9900"/>
                </a:solidFill>
              </a:rPr>
              <a:t>WPGA</a:t>
            </a:r>
            <a:r>
              <a:rPr lang="en"/>
              <a:t> (Web Programming Grading Assistant)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rgbClr val="FF9900"/>
                </a:solidFill>
              </a:rPr>
              <a:t>QuizIT</a:t>
            </a:r>
            <a:r>
              <a:rPr lang="en"/>
              <a:t> (Quiz of the Day)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rgbClr val="FF9900"/>
                </a:solidFill>
              </a:rPr>
              <a:t>Ogmented</a:t>
            </a:r>
            <a:r>
              <a:rPr lang="en"/>
              <a:t> (Learn CT in AR)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PiSA (Personalized Information Seeking Assistant)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CodeReco (Semantic code recommender)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Study Genie (Intelligent Notes/Cheatsheet Agent)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AutoNum type="arabicPeriod"/>
            </a:pPr>
            <a:r>
              <a:rPr lang="en">
                <a:solidFill>
                  <a:srgbClr val="666666"/>
                </a:solidFill>
              </a:rPr>
              <a:t>Progressor</a:t>
            </a:r>
            <a:r>
              <a:rPr baseline="30000" lang="en">
                <a:solidFill>
                  <a:srgbClr val="666666"/>
                </a:solidFill>
              </a:rPr>
              <a:t>+ </a:t>
            </a:r>
            <a:r>
              <a:rPr lang="en">
                <a:solidFill>
                  <a:srgbClr val="666666"/>
                </a:solidFill>
              </a:rPr>
              <a:t>(Visual Learning Analytics)</a:t>
            </a:r>
            <a:endParaRPr>
              <a:solidFill>
                <a:srgbClr val="666666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baseline="30000" lang="en"/>
              <a:t>…</a:t>
            </a:r>
            <a:endParaRPr baseline="30000"/>
          </a:p>
        </p:txBody>
      </p:sp>
      <p:grpSp>
        <p:nvGrpSpPr>
          <p:cNvPr id="181" name="Google Shape;181;p35"/>
          <p:cNvGrpSpPr/>
          <p:nvPr/>
        </p:nvGrpSpPr>
        <p:grpSpPr>
          <a:xfrm>
            <a:off x="2125856" y="121200"/>
            <a:ext cx="4572171" cy="1710009"/>
            <a:chOff x="3896950" y="67325"/>
            <a:chExt cx="5116575" cy="1858100"/>
          </a:xfrm>
        </p:grpSpPr>
        <p:pic>
          <p:nvPicPr>
            <p:cNvPr id="182" name="Google Shape;182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96950" y="67327"/>
              <a:ext cx="1629399" cy="18580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40536" y="67328"/>
              <a:ext cx="1629399" cy="1858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84126" y="67325"/>
              <a:ext cx="1629399" cy="18580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35"/>
          <p:cNvSpPr txBox="1"/>
          <p:nvPr/>
        </p:nvSpPr>
        <p:spPr>
          <a:xfrm>
            <a:off x="7001625" y="2257475"/>
            <a:ext cx="1992900" cy="1908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7.5 PhD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Undergrad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journals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 conference papers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Avg &gt; 2 pubs/student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and Completed grants</a:t>
            </a:r>
            <a:endParaRPr/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11700" y="1152475"/>
            <a:ext cx="8520600" cy="38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NSF: Cultural Anthropology program (Co-PI) </a:t>
            </a:r>
            <a:r>
              <a:rPr lang="en" sz="1400">
                <a:solidFill>
                  <a:srgbClr val="0000FF"/>
                </a:solidFill>
              </a:rPr>
              <a:t>155K/2yrs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SocioMap: A network-based system to facilitate data synthesis involving complex, evolving sets of sociopolitical entities.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NSF: RAISE (Co-PI) </a:t>
            </a:r>
            <a:r>
              <a:rPr lang="en" sz="1400">
                <a:solidFill>
                  <a:srgbClr val="0000FF"/>
                </a:solidFill>
              </a:rPr>
              <a:t>998K/1yr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Safe Skill-Aligned On-The-Job Training with Autonomous Systems.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DoD: Advanced Distributed Learning (ADL) (Co-PI) </a:t>
            </a:r>
            <a:r>
              <a:rPr lang="en" sz="1400">
                <a:solidFill>
                  <a:srgbClr val="0000FF"/>
                </a:solidFill>
              </a:rPr>
              <a:t>890K/2yrs</a:t>
            </a:r>
            <a:r>
              <a:rPr lang="en" sz="1100">
                <a:solidFill>
                  <a:srgbClr val="0000FF"/>
                </a:solidFill>
              </a:rPr>
              <a:t>	</a:t>
            </a:r>
            <a:r>
              <a:rPr lang="en" sz="1100">
                <a:solidFill>
                  <a:schemeClr val="dk1"/>
                </a:solidFill>
              </a:rPr>
              <a:t>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Science of Learning for Education and Readiness.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NSF: NRI (PI) </a:t>
            </a:r>
            <a:r>
              <a:rPr lang="en" sz="1400"/>
              <a:t>250K/3yr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Collaborative Research</a:t>
            </a:r>
            <a:r>
              <a:rPr lang="en"/>
              <a:t>: </a:t>
            </a:r>
            <a:r>
              <a:rPr lang="en"/>
              <a:t>Understanding the Influence of a Teachable Robot on STEM Skills and Attitudes.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Several internal fundings: 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Embodied XR: Ebola Resource Decision Enabler.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Institute for Social Science Research Seed Grant: </a:t>
            </a:r>
            <a:r>
              <a:rPr lang="en" sz="1300"/>
              <a:t>Advancing personalized learning across physical and digital spaces: A data-driven learning analytics approach.</a:t>
            </a:r>
            <a:endParaRPr sz="1300"/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725" y="1000975"/>
            <a:ext cx="721000" cy="4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R1: Behavioral Analytics &amp; Modeling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38"/>
          <p:cNvGrpSpPr/>
          <p:nvPr/>
        </p:nvGrpSpPr>
        <p:grpSpPr>
          <a:xfrm>
            <a:off x="120600" y="1532700"/>
            <a:ext cx="4527601" cy="2078098"/>
            <a:chOff x="112000" y="2045325"/>
            <a:chExt cx="4527601" cy="2078098"/>
          </a:xfrm>
        </p:grpSpPr>
        <p:pic>
          <p:nvPicPr>
            <p:cNvPr id="203" name="Google Shape;20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2000" y="2045325"/>
              <a:ext cx="4527601" cy="20780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8"/>
            <p:cNvPicPr preferRelativeResize="0"/>
            <p:nvPr/>
          </p:nvPicPr>
          <p:blipFill rotWithShape="1">
            <a:blip r:embed="rId4">
              <a:alphaModFix/>
            </a:blip>
            <a:srcRect b="10899" l="1223" r="72738" t="19810"/>
            <a:stretch/>
          </p:blipFill>
          <p:spPr>
            <a:xfrm>
              <a:off x="112000" y="2733325"/>
              <a:ext cx="625198" cy="644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38"/>
            <p:cNvPicPr preferRelativeResize="0"/>
            <p:nvPr/>
          </p:nvPicPr>
          <p:blipFill rotWithShape="1">
            <a:blip r:embed="rId5">
              <a:alphaModFix/>
            </a:blip>
            <a:srcRect b="32208" l="0" r="33884" t="6789"/>
            <a:stretch/>
          </p:blipFill>
          <p:spPr>
            <a:xfrm>
              <a:off x="841550" y="2523150"/>
              <a:ext cx="1817723" cy="103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25225" y="3036275"/>
              <a:ext cx="1817725" cy="94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Platform: QuizIT</a:t>
            </a:r>
            <a:endParaRPr/>
          </a:p>
        </p:txBody>
      </p:sp>
      <p:sp>
        <p:nvSpPr>
          <p:cNvPr id="208" name="Google Shape;208;p38"/>
          <p:cNvSpPr txBox="1"/>
          <p:nvPr>
            <p:ph idx="2" type="body"/>
          </p:nvPr>
        </p:nvSpPr>
        <p:spPr>
          <a:xfrm>
            <a:off x="4832400" y="1036950"/>
            <a:ext cx="42561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600+ users/semester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student’s attempts, time, reflection, success rate, sessions, etc.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38"/>
          <p:cNvGrpSpPr/>
          <p:nvPr/>
        </p:nvGrpSpPr>
        <p:grpSpPr>
          <a:xfrm>
            <a:off x="-26475" y="1417950"/>
            <a:ext cx="9115100" cy="3788900"/>
            <a:chOff x="-26475" y="1417950"/>
            <a:chExt cx="9115100" cy="3788900"/>
          </a:xfrm>
        </p:grpSpPr>
        <p:grpSp>
          <p:nvGrpSpPr>
            <p:cNvPr id="210" name="Google Shape;210;p38"/>
            <p:cNvGrpSpPr/>
            <p:nvPr/>
          </p:nvGrpSpPr>
          <p:grpSpPr>
            <a:xfrm>
              <a:off x="-26475" y="1417950"/>
              <a:ext cx="4598475" cy="2618950"/>
              <a:chOff x="-26475" y="1417950"/>
              <a:chExt cx="4598475" cy="2618950"/>
            </a:xfrm>
          </p:grpSpPr>
          <p:grpSp>
            <p:nvGrpSpPr>
              <p:cNvPr id="211" name="Google Shape;211;p38"/>
              <p:cNvGrpSpPr/>
              <p:nvPr/>
            </p:nvGrpSpPr>
            <p:grpSpPr>
              <a:xfrm>
                <a:off x="-26475" y="1417950"/>
                <a:ext cx="4598475" cy="2211900"/>
                <a:chOff x="-26475" y="1417950"/>
                <a:chExt cx="4598475" cy="2211900"/>
              </a:xfrm>
            </p:grpSpPr>
            <p:sp>
              <p:nvSpPr>
                <p:cNvPr id="212" name="Google Shape;212;p38"/>
                <p:cNvSpPr/>
                <p:nvPr/>
              </p:nvSpPr>
              <p:spPr>
                <a:xfrm>
                  <a:off x="-26475" y="2984850"/>
                  <a:ext cx="592200" cy="645000"/>
                </a:xfrm>
                <a:prstGeom prst="ellipse">
                  <a:avLst/>
                </a:prstGeom>
                <a:solidFill>
                  <a:srgbClr val="FCE5CD"/>
                </a:solidFill>
                <a:ln cap="flat" cmpd="sng" w="9525">
                  <a:solidFill>
                    <a:srgbClr val="F9CB9C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8588" rotWithShape="0" algn="bl" dir="5400000" dist="38100">
                    <a:srgbClr val="000000">
                      <a:alpha val="31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000">
                      <a:solidFill>
                        <a:srgbClr val="0000FF"/>
                      </a:solidFill>
                    </a:rPr>
                    <a:t>1.</a:t>
                  </a:r>
                  <a:endParaRPr b="1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213" name="Google Shape;213;p38"/>
                <p:cNvSpPr/>
                <p:nvPr/>
              </p:nvSpPr>
              <p:spPr>
                <a:xfrm>
                  <a:off x="1649925" y="1417950"/>
                  <a:ext cx="592200" cy="645000"/>
                </a:xfrm>
                <a:prstGeom prst="ellipse">
                  <a:avLst/>
                </a:prstGeom>
                <a:solidFill>
                  <a:srgbClr val="FCE5CD"/>
                </a:solidFill>
                <a:ln cap="flat" cmpd="sng" w="9525">
                  <a:solidFill>
                    <a:srgbClr val="F9CB9C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8588" rotWithShape="0" algn="bl" dir="5400000" dist="38100">
                    <a:srgbClr val="000000">
                      <a:alpha val="31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000">
                      <a:solidFill>
                        <a:srgbClr val="0000FF"/>
                      </a:solidFill>
                    </a:rPr>
                    <a:t>2.</a:t>
                  </a:r>
                  <a:endParaRPr b="1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214" name="Google Shape;214;p38"/>
                <p:cNvSpPr/>
                <p:nvPr/>
              </p:nvSpPr>
              <p:spPr>
                <a:xfrm>
                  <a:off x="3979800" y="1532700"/>
                  <a:ext cx="592200" cy="645000"/>
                </a:xfrm>
                <a:prstGeom prst="ellipse">
                  <a:avLst/>
                </a:prstGeom>
                <a:solidFill>
                  <a:srgbClr val="FCE5CD"/>
                </a:solidFill>
                <a:ln cap="flat" cmpd="sng" w="9525">
                  <a:solidFill>
                    <a:srgbClr val="F9CB9C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8588" rotWithShape="0" algn="bl" dir="5400000" dist="38100">
                    <a:srgbClr val="000000">
                      <a:alpha val="31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000">
                      <a:solidFill>
                        <a:srgbClr val="0000FF"/>
                      </a:solidFill>
                    </a:rPr>
                    <a:t>3.</a:t>
                  </a:r>
                  <a:endParaRPr b="1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215" name="Google Shape;215;p38"/>
                <p:cNvSpPr/>
                <p:nvPr/>
              </p:nvSpPr>
              <p:spPr>
                <a:xfrm>
                  <a:off x="2242125" y="2842175"/>
                  <a:ext cx="592200" cy="645000"/>
                </a:xfrm>
                <a:prstGeom prst="ellipse">
                  <a:avLst/>
                </a:prstGeom>
                <a:solidFill>
                  <a:srgbClr val="FCE5CD"/>
                </a:solidFill>
                <a:ln cap="flat" cmpd="sng" w="9525">
                  <a:solidFill>
                    <a:srgbClr val="F9CB9C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28588" rotWithShape="0" algn="bl" dir="5400000" dist="38100">
                    <a:srgbClr val="000000">
                      <a:alpha val="31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000">
                      <a:solidFill>
                        <a:srgbClr val="0000FF"/>
                      </a:solidFill>
                    </a:rPr>
                    <a:t>4.</a:t>
                  </a:r>
                  <a:endParaRPr b="1" sz="2000">
                    <a:solidFill>
                      <a:srgbClr val="0000FF"/>
                    </a:solidFill>
                  </a:endParaRPr>
                </a:p>
              </p:txBody>
            </p:sp>
          </p:grpSp>
          <p:sp>
            <p:nvSpPr>
              <p:cNvPr id="216" name="Google Shape;216;p38"/>
              <p:cNvSpPr/>
              <p:nvPr/>
            </p:nvSpPr>
            <p:spPr>
              <a:xfrm>
                <a:off x="3680788" y="3391900"/>
                <a:ext cx="592200" cy="645000"/>
              </a:xfrm>
              <a:prstGeom prst="ellipse">
                <a:avLst/>
              </a:prstGeom>
              <a:solidFill>
                <a:srgbClr val="FCE5CD"/>
              </a:solidFill>
              <a:ln cap="flat" cmpd="sng" w="9525">
                <a:solidFill>
                  <a:srgbClr val="F9CB9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28588" rotWithShape="0" algn="bl" dir="5400000" dist="38100">
                  <a:srgbClr val="000000">
                    <a:alpha val="31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00FF"/>
                    </a:solidFill>
                  </a:rPr>
                  <a:t>5.</a:t>
                </a:r>
                <a:endParaRPr b="1" sz="200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17" name="Google Shape;217;p38"/>
            <p:cNvSpPr txBox="1"/>
            <p:nvPr/>
          </p:nvSpPr>
          <p:spPr>
            <a:xfrm>
              <a:off x="4896425" y="2491550"/>
              <a:ext cx="4192200" cy="27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15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Char char="●"/>
              </a:pPr>
              <a:r>
                <a:rPr lang="en" sz="2000">
                  <a:solidFill>
                    <a:srgbClr val="FFFFFF"/>
                  </a:solidFill>
                </a:rPr>
                <a:t>Learning Sciences principles:</a:t>
              </a:r>
              <a:endParaRPr sz="2000">
                <a:solidFill>
                  <a:srgbClr val="FFFFFF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AutoNum type="arabicPeriod"/>
              </a:pPr>
              <a:r>
                <a:rPr lang="en" sz="1600">
                  <a:solidFill>
                    <a:srgbClr val="FFFFFF"/>
                  </a:solidFill>
                </a:rPr>
                <a:t>Distributed practice</a:t>
              </a:r>
              <a:r>
                <a:rPr lang="en" sz="2000">
                  <a:solidFill>
                    <a:srgbClr val="FFFFFF"/>
                  </a:solidFill>
                </a:rPr>
                <a:t> </a:t>
              </a:r>
              <a:r>
                <a:rPr lang="en" sz="800">
                  <a:solidFill>
                    <a:srgbClr val="FFFFFF"/>
                  </a:solidFill>
                </a:rPr>
                <a:t>(Rohrer, 2015)</a:t>
              </a:r>
              <a:endParaRPr sz="800">
                <a:solidFill>
                  <a:srgbClr val="FFFFFF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AutoNum type="arabicPeriod"/>
              </a:pPr>
              <a:r>
                <a:rPr lang="en" sz="1600">
                  <a:solidFill>
                    <a:srgbClr val="FFFFFF"/>
                  </a:solidFill>
                </a:rPr>
                <a:t>Retrieval practice and testing effects </a:t>
              </a:r>
              <a:r>
                <a:rPr lang="en" sz="800">
                  <a:solidFill>
                    <a:srgbClr val="FFFFFF"/>
                  </a:solidFill>
                </a:rPr>
                <a:t>(Roediger &amp; Butler, 2011)</a:t>
              </a:r>
              <a:endParaRPr sz="800">
                <a:solidFill>
                  <a:srgbClr val="FFFFFF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AutoNum type="arabicPeriod"/>
              </a:pPr>
              <a:r>
                <a:rPr lang="en" sz="1600">
                  <a:solidFill>
                    <a:srgbClr val="FFFFFF"/>
                  </a:solidFill>
                </a:rPr>
                <a:t>Reflection and metacognition</a:t>
              </a:r>
              <a:r>
                <a:rPr lang="en" sz="800">
                  <a:solidFill>
                    <a:srgbClr val="FFFFFF"/>
                  </a:solidFill>
                </a:rPr>
                <a:t> (Hacker, Dunlosky, &amp; Graesser, 1998; Zimmerman &amp; Schunk, 2012)</a:t>
              </a:r>
              <a:endParaRPr sz="800">
                <a:solidFill>
                  <a:srgbClr val="FFFFFF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AutoNum type="arabicPeriod"/>
              </a:pPr>
              <a:r>
                <a:rPr lang="en" sz="1600">
                  <a:solidFill>
                    <a:srgbClr val="FFFFFF"/>
                  </a:solidFill>
                </a:rPr>
                <a:t>Feedback</a:t>
              </a:r>
              <a:r>
                <a:rPr lang="en" sz="2000">
                  <a:solidFill>
                    <a:srgbClr val="FFFFFF"/>
                  </a:solidFill>
                </a:rPr>
                <a:t> </a:t>
              </a:r>
              <a:r>
                <a:rPr lang="en" sz="800">
                  <a:solidFill>
                    <a:srgbClr val="FFFFFF"/>
                  </a:solidFill>
                </a:rPr>
                <a:t>(Butler &amp; Winne, 1995; Shute, 2008)</a:t>
              </a:r>
              <a:endParaRPr sz="800">
                <a:solidFill>
                  <a:srgbClr val="FFFFFF"/>
                </a:solidFill>
              </a:endParaRPr>
            </a:p>
            <a:p>
              <a:pPr indent="-3175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AutoNum type="arabicPeriod"/>
              </a:pPr>
              <a:r>
                <a:rPr lang="en" sz="1600">
                  <a:solidFill>
                    <a:srgbClr val="FFFFFF"/>
                  </a:solidFill>
                </a:rPr>
                <a:t>Peer interaction</a:t>
              </a:r>
              <a:r>
                <a:rPr lang="en" sz="2000">
                  <a:solidFill>
                    <a:srgbClr val="FFFFFF"/>
                  </a:solidFill>
                </a:rPr>
                <a:t> </a:t>
              </a:r>
              <a:r>
                <a:rPr lang="en" sz="800">
                  <a:solidFill>
                    <a:srgbClr val="FFFFFF"/>
                  </a:solidFill>
                </a:rPr>
                <a:t>(Roscoe &amp; Chi, 2007; Topping, 2005)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23" name="Google Shape;223;p3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H1: </a:t>
            </a:r>
            <a:r>
              <a:rPr b="1" lang="en">
                <a:solidFill>
                  <a:srgbClr val="FF9900"/>
                </a:solidFill>
              </a:rPr>
              <a:t>Students’ problem solving tactics</a:t>
            </a:r>
            <a:r>
              <a:rPr lang="en"/>
              <a:t> can be classified based on the sequences of their problem solving actions, and behavioral patterns are correlated to the performances.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H2: </a:t>
            </a:r>
            <a:r>
              <a:rPr b="1" lang="en">
                <a:solidFill>
                  <a:srgbClr val="FF9900"/>
                </a:solidFill>
              </a:rPr>
              <a:t>Students’ studying patterns</a:t>
            </a:r>
            <a:r>
              <a:rPr lang="en"/>
              <a:t> can be clustered as click-stream (response-stream) data, and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study persistency positively affects performances.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Differential sequential mining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Poisson mixture modeling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90475" y="1921350"/>
            <a:ext cx="86442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R1.1: Modeling Problem-Solving Tactics</a:t>
            </a:r>
            <a:endParaRPr/>
          </a:p>
        </p:txBody>
      </p:sp>
      <p:sp>
        <p:nvSpPr>
          <p:cNvPr id="229" name="Google Shape;229;p40"/>
          <p:cNvSpPr txBox="1"/>
          <p:nvPr>
            <p:ph type="title"/>
          </p:nvPr>
        </p:nvSpPr>
        <p:spPr>
          <a:xfrm>
            <a:off x="301525" y="1071975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R1: Behavioral Analytics &amp; Modeling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Action Sequences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61975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Char char="●"/>
            </a:pPr>
            <a:r>
              <a:rPr lang="en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 sequence formed by action segment {Complexity, Correctness, Duration}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∈ {Easy, Moderate, Difficult}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Correctness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∈ {1, 2}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</a:pPr>
            <a:r>
              <a:rPr lang="en" sz="2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∈ {F, S, M, L, VL, XL}</a:t>
            </a:r>
            <a:endParaRPr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instance, </a:t>
            </a:r>
            <a:r>
              <a:rPr b="1" lang="en" sz="2200">
                <a:solidFill>
                  <a:srgbClr val="666666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&lt;Easy-1-F&gt;</a:t>
            </a:r>
            <a:r>
              <a:rPr lang="en" sz="2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represents a question of easy difficulty that was answered correctly on the first attempt.</a:t>
            </a:r>
            <a:endParaRPr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Sequential Mining 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1889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 sequence assigned to students performance (median score)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○"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performing 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○"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performing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●"/>
            </a:pP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to measure pattern frequency: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i="1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s-frequency</a:t>
            </a: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# of sequences in a database containing a specific pattern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i="1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i-frequency</a:t>
            </a:r>
            <a:r>
              <a:rPr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# of times a pattern appearing in a single sequence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s-support &gt;= 0.3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i-support considered maximum gap constraint : 2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p-value threshold was set at 0.05	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321413" y="13037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 &amp; modeling</a:t>
            </a:r>
            <a:endParaRPr/>
          </a:p>
        </p:txBody>
      </p:sp>
      <p:sp>
        <p:nvSpPr>
          <p:cNvPr id="247" name="Google Shape;247;p43"/>
          <p:cNvSpPr txBox="1"/>
          <p:nvPr>
            <p:ph idx="1" type="body"/>
          </p:nvPr>
        </p:nvSpPr>
        <p:spPr>
          <a:xfrm>
            <a:off x="382525" y="1115625"/>
            <a:ext cx="8520600" cy="1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 s-frequent patterns : 23 high-performing and 12 low-performing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CFS with 10-fold CV used for feature selection (patterns in at least 5 CV included)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high-performing and 2 poor-performing patterns retrieved from CFS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3633"/>
          <a:stretch/>
        </p:blipFill>
        <p:spPr>
          <a:xfrm>
            <a:off x="145225" y="2261350"/>
            <a:ext cx="8872976" cy="22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2965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tactics were found.</a:t>
            </a:r>
            <a:endParaRPr/>
          </a:p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311700" y="1113150"/>
            <a:ext cx="3999900" cy="34635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51C75"/>
              </a:buClr>
              <a:buSzPts val="1700"/>
              <a:buChar char="●"/>
            </a:pPr>
            <a:r>
              <a:rPr lang="en" sz="17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Persistent-practicing</a:t>
            </a:r>
            <a:endParaRPr sz="17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&lt;Easy-1-F&gt; &lt;Easy- 1-F&gt; &lt;Easy-1-F&gt; &lt;Easy-1-F&gt;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51C75"/>
              </a:buClr>
              <a:buSzPts val="1700"/>
              <a:buChar char="●"/>
            </a:pPr>
            <a:r>
              <a:rPr lang="en" sz="17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Steady-progression</a:t>
            </a:r>
            <a:endParaRPr sz="17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&lt;Easy-1-M&gt; &lt;Medium-1-F&gt;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51C75"/>
              </a:buClr>
              <a:buSzPts val="1700"/>
              <a:buChar char="●"/>
            </a:pPr>
            <a:r>
              <a:rPr lang="en" sz="17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Experimental-progression</a:t>
            </a:r>
            <a:endParaRPr sz="17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&lt;Easy-1-F&gt; &lt;Medium- 2-F&gt; &lt;Medium-1-M&gt;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51C75"/>
              </a:buClr>
              <a:buSzPts val="1700"/>
              <a:buChar char="●"/>
            </a:pPr>
            <a:r>
              <a:rPr lang="en" sz="17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Jump-forward-progression</a:t>
            </a:r>
            <a:endParaRPr sz="17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&lt;Easy- 1-F&gt; &lt;Easy-1-F&gt; &lt;Medium-1-F&gt;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51C75"/>
              </a:buClr>
              <a:buSzPts val="1700"/>
              <a:buChar char="●"/>
            </a:pPr>
            <a:r>
              <a:rPr lang="en" sz="17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Jump-backward-progression</a:t>
            </a:r>
            <a:endParaRPr sz="17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&lt;Medium- 1-F&gt; &lt;Easy-1-F&gt; &lt;Easy-1-F&gt;</a:t>
            </a:r>
            <a:endParaRPr sz="1300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351C75"/>
              </a:solidFill>
            </a:endParaRPr>
          </a:p>
        </p:txBody>
      </p:sp>
      <p:sp>
        <p:nvSpPr>
          <p:cNvPr id="255" name="Google Shape;255;p44"/>
          <p:cNvSpPr txBox="1"/>
          <p:nvPr>
            <p:ph idx="2" type="body"/>
          </p:nvPr>
        </p:nvSpPr>
        <p:spPr>
          <a:xfrm>
            <a:off x="4470275" y="1113150"/>
            <a:ext cx="4116300" cy="1805700"/>
          </a:xfrm>
          <a:prstGeom prst="rect">
            <a:avLst/>
          </a:prstGeom>
          <a:solidFill>
            <a:srgbClr val="EEEEEE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1700"/>
              <a:buChar char="●"/>
            </a:pPr>
            <a:r>
              <a:rPr lang="en" sz="17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Struggling</a:t>
            </a:r>
            <a:endParaRPr sz="17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&lt;Medium-2-F&gt; &lt;Medium-2-S&gt; &lt;Medium- 1-S&gt; &lt;Medium-2-F&gt;</a:t>
            </a:r>
            <a:endParaRPr sz="13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1700"/>
              <a:buChar char="●"/>
            </a:pPr>
            <a:r>
              <a:rPr lang="en" sz="17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Withdrawal</a:t>
            </a:r>
            <a:endParaRPr sz="17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&lt;Easy-2-S&gt; &lt;Medium-2-F&gt;</a:t>
            </a:r>
            <a:endParaRPr sz="13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title"/>
          </p:nvPr>
        </p:nvSpPr>
        <p:spPr>
          <a:xfrm>
            <a:off x="311700" y="160175"/>
            <a:ext cx="85206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2200">
                <a:latin typeface="Calibri"/>
                <a:ea typeface="Calibri"/>
                <a:cs typeface="Calibri"/>
                <a:sym typeface="Calibri"/>
              </a:rPr>
              <a:t>LR &amp; RF models are built to predict student’s performance (course final grades)</a:t>
            </a:r>
            <a:endParaRPr sz="3900"/>
          </a:p>
        </p:txBody>
      </p:sp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311700" y="2989750"/>
            <a:ext cx="3999900" cy="1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learned: </a:t>
            </a:r>
            <a:r>
              <a:rPr lang="en" u="sng"/>
              <a:t>persistent practicing</a:t>
            </a:r>
            <a:r>
              <a:rPr lang="en"/>
              <a:t> feature consistently being important feature regardless what model it is.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246325"/>
            <a:ext cx="4527600" cy="341660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5"/>
          <p:cNvSpPr/>
          <p:nvPr/>
        </p:nvSpPr>
        <p:spPr>
          <a:xfrm>
            <a:off x="4279175" y="1105225"/>
            <a:ext cx="4527600" cy="779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4" name="Google Shape;264;p45"/>
          <p:cNvGraphicFramePr/>
          <p:nvPr/>
        </p:nvGraphicFramePr>
        <p:xfrm>
          <a:off x="371550" y="14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{901B8D38-4C06-4045-B205-D46D7BE138A5}</a:tableStyleId>
              </a:tblPr>
              <a:tblGrid>
                <a:gridCol w="722025"/>
                <a:gridCol w="1019575"/>
                <a:gridCol w="792850"/>
                <a:gridCol w="977050"/>
              </a:tblGrid>
              <a:tr h="33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0.6777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0.6979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0.6777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390475" y="1921350"/>
            <a:ext cx="86442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R1.2: Modeling Studying Persistency</a:t>
            </a:r>
            <a:endParaRPr/>
          </a:p>
        </p:txBody>
      </p:sp>
      <p:sp>
        <p:nvSpPr>
          <p:cNvPr id="270" name="Google Shape;270;p46"/>
          <p:cNvSpPr txBox="1"/>
          <p:nvPr>
            <p:ph type="title"/>
          </p:nvPr>
        </p:nvSpPr>
        <p:spPr>
          <a:xfrm>
            <a:off x="280950" y="1052825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R1: Behavioral Analytics &amp; Modeling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2203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Yes! Persistence Matters!</a:t>
            </a:r>
            <a:endParaRPr/>
          </a:p>
        </p:txBody>
      </p:sp>
      <p:pic>
        <p:nvPicPr>
          <p:cNvPr id="276" name="Google Shape;2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025117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9917" y="1170125"/>
            <a:ext cx="2134701" cy="3820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47"/>
          <p:cNvGrpSpPr/>
          <p:nvPr/>
        </p:nvGrpSpPr>
        <p:grpSpPr>
          <a:xfrm>
            <a:off x="4672225" y="1170125"/>
            <a:ext cx="4169077" cy="2963526"/>
            <a:chOff x="4672225" y="1170125"/>
            <a:chExt cx="4169077" cy="2963526"/>
          </a:xfrm>
        </p:grpSpPr>
        <p:pic>
          <p:nvPicPr>
            <p:cNvPr id="279" name="Google Shape;279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72225" y="1170125"/>
              <a:ext cx="2824774" cy="1588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4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72226" y="2969601"/>
              <a:ext cx="4169075" cy="1164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1" name="Google Shape;281;p47"/>
          <p:cNvSpPr txBox="1"/>
          <p:nvPr/>
        </p:nvSpPr>
        <p:spPr>
          <a:xfrm>
            <a:off x="4672225" y="4344200"/>
            <a:ext cx="41691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High persistency  across board!</a:t>
            </a:r>
            <a:endParaRPr b="1" sz="2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persistence methodology</a:t>
            </a:r>
            <a:endParaRPr/>
          </a:p>
        </p:txBody>
      </p:sp>
      <p:pic>
        <p:nvPicPr>
          <p:cNvPr id="287" name="Google Shape;2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400" y="1197075"/>
            <a:ext cx="50863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8"/>
          <p:cNvSpPr txBox="1"/>
          <p:nvPr/>
        </p:nvSpPr>
        <p:spPr>
          <a:xfrm>
            <a:off x="311700" y="3568150"/>
            <a:ext cx="514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C627"/>
                </a:highlight>
              </a:rPr>
              <a:t>Persistence</a:t>
            </a:r>
            <a:r>
              <a:rPr lang="en"/>
              <a:t>: the degree of continued existence of the effort in a period of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●I.e., Amount of effort spent week by week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●Captured by a probabilistic mixture model (Park et al., 2018)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161575" y="372500"/>
            <a:ext cx="89823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Behavioral Analytics on </a:t>
            </a:r>
            <a:r>
              <a:rPr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r>
              <a:rPr b="0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Regularity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possonModel_persistence.png" id="294" name="Google Shape;29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99" y="1633800"/>
            <a:ext cx="6473100" cy="30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Persistently studying (Active) matters! 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1468825"/>
            <a:ext cx="49332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Significant differences between Active vs. Inactive, Semi-active, and Cramming. </a:t>
            </a:r>
            <a:endParaRPr sz="1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2" marL="1371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■"/>
            </a:pPr>
            <a:r>
              <a:rPr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=0.045, Cohen’s d=0.551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2" marL="1371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■"/>
            </a:pPr>
            <a:r>
              <a:rPr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0.687, </a:t>
            </a:r>
            <a:r>
              <a:rPr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=0.275; </a:t>
            </a:r>
            <a:r>
              <a:rPr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0.532, </a:t>
            </a:r>
            <a:r>
              <a:rPr i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=0.280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Screen Shot 2019-05-27 at 1.12.01 AM.png" id="301" name="Google Shape;30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9501" y="1607275"/>
            <a:ext cx="3238425" cy="32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228600" y="205975"/>
            <a:ext cx="9050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Longitudinal study to examine Macro patterns </a:t>
            </a:r>
            <a:endParaRPr/>
          </a:p>
        </p:txBody>
      </p:sp>
      <p:grpSp>
        <p:nvGrpSpPr>
          <p:cNvPr id="307" name="Google Shape;307;p51"/>
          <p:cNvGrpSpPr/>
          <p:nvPr/>
        </p:nvGrpSpPr>
        <p:grpSpPr>
          <a:xfrm>
            <a:off x="1097400" y="1420950"/>
            <a:ext cx="6873000" cy="697188"/>
            <a:chOff x="1097400" y="1420950"/>
            <a:chExt cx="6873000" cy="697188"/>
          </a:xfrm>
        </p:grpSpPr>
        <p:sp>
          <p:nvSpPr>
            <p:cNvPr id="308" name="Google Shape;308;p51"/>
            <p:cNvSpPr/>
            <p:nvPr/>
          </p:nvSpPr>
          <p:spPr>
            <a:xfrm>
              <a:off x="1173600" y="1420950"/>
              <a:ext cx="9486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</a:rPr>
                <a:t>Persistence Pattern</a:t>
              </a:r>
              <a:endParaRPr sz="1100"/>
            </a:p>
          </p:txBody>
        </p:sp>
        <p:sp>
          <p:nvSpPr>
            <p:cNvPr id="309" name="Google Shape;309;p51"/>
            <p:cNvSpPr/>
            <p:nvPr/>
          </p:nvSpPr>
          <p:spPr>
            <a:xfrm>
              <a:off x="2336700" y="1420950"/>
              <a:ext cx="948600" cy="393600"/>
            </a:xfrm>
            <a:prstGeom prst="rect">
              <a:avLst/>
            </a:prstGeom>
            <a:noFill/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Exam 1 Score</a:t>
              </a:r>
              <a:endParaRPr sz="1100"/>
            </a:p>
          </p:txBody>
        </p:sp>
        <p:sp>
          <p:nvSpPr>
            <p:cNvPr id="310" name="Google Shape;310;p51"/>
            <p:cNvSpPr/>
            <p:nvPr/>
          </p:nvSpPr>
          <p:spPr>
            <a:xfrm>
              <a:off x="3500400" y="1420950"/>
              <a:ext cx="9486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Persistence Pattern</a:t>
              </a:r>
              <a:endParaRPr sz="1100"/>
            </a:p>
          </p:txBody>
        </p:sp>
        <p:sp>
          <p:nvSpPr>
            <p:cNvPr id="311" name="Google Shape;311;p51"/>
            <p:cNvSpPr/>
            <p:nvPr/>
          </p:nvSpPr>
          <p:spPr>
            <a:xfrm>
              <a:off x="4632600" y="1420950"/>
              <a:ext cx="948600" cy="393600"/>
            </a:xfrm>
            <a:prstGeom prst="rect">
              <a:avLst/>
            </a:prstGeom>
            <a:noFill/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Exam 2 Score</a:t>
              </a:r>
              <a:endParaRPr sz="1100"/>
            </a:p>
          </p:txBody>
        </p:sp>
        <p:cxnSp>
          <p:nvCxnSpPr>
            <p:cNvPr id="312" name="Google Shape;312;p51"/>
            <p:cNvCxnSpPr>
              <a:stCxn id="308" idx="3"/>
              <a:endCxn id="309" idx="1"/>
            </p:cNvCxnSpPr>
            <p:nvPr/>
          </p:nvCxnSpPr>
          <p:spPr>
            <a:xfrm>
              <a:off x="2122200" y="1617750"/>
              <a:ext cx="2145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951D4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3" name="Google Shape;313;p51"/>
            <p:cNvCxnSpPr>
              <a:stCxn id="309" idx="3"/>
              <a:endCxn id="310" idx="1"/>
            </p:cNvCxnSpPr>
            <p:nvPr/>
          </p:nvCxnSpPr>
          <p:spPr>
            <a:xfrm>
              <a:off x="3285300" y="1617750"/>
              <a:ext cx="2151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951D4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4" name="Google Shape;314;p51"/>
            <p:cNvCxnSpPr>
              <a:stCxn id="310" idx="3"/>
              <a:endCxn id="311" idx="1"/>
            </p:cNvCxnSpPr>
            <p:nvPr/>
          </p:nvCxnSpPr>
          <p:spPr>
            <a:xfrm>
              <a:off x="4449000" y="1617750"/>
              <a:ext cx="1836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951D4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5" name="Google Shape;315;p51"/>
            <p:cNvCxnSpPr>
              <a:stCxn id="311" idx="3"/>
              <a:endCxn id="316" idx="1"/>
            </p:cNvCxnSpPr>
            <p:nvPr/>
          </p:nvCxnSpPr>
          <p:spPr>
            <a:xfrm>
              <a:off x="5581200" y="1617750"/>
              <a:ext cx="2460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951D4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6" name="Google Shape;316;p51"/>
            <p:cNvSpPr/>
            <p:nvPr/>
          </p:nvSpPr>
          <p:spPr>
            <a:xfrm>
              <a:off x="5827200" y="1420950"/>
              <a:ext cx="9486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Persistence Pattern</a:t>
              </a:r>
              <a:endParaRPr sz="1100"/>
            </a:p>
          </p:txBody>
        </p:sp>
        <p:sp>
          <p:nvSpPr>
            <p:cNvPr id="317" name="Google Shape;317;p51"/>
            <p:cNvSpPr/>
            <p:nvPr/>
          </p:nvSpPr>
          <p:spPr>
            <a:xfrm>
              <a:off x="7021800" y="1420950"/>
              <a:ext cx="948600" cy="393600"/>
            </a:xfrm>
            <a:prstGeom prst="rect">
              <a:avLst/>
            </a:prstGeom>
            <a:noFill/>
            <a:ln cap="flat" cmpd="sng" w="9525">
              <a:solidFill>
                <a:srgbClr val="951D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Exam 3 Score</a:t>
              </a:r>
              <a:endParaRPr sz="1100"/>
            </a:p>
          </p:txBody>
        </p:sp>
        <p:cxnSp>
          <p:nvCxnSpPr>
            <p:cNvPr id="318" name="Google Shape;318;p51"/>
            <p:cNvCxnSpPr>
              <a:stCxn id="316" idx="3"/>
              <a:endCxn id="317" idx="1"/>
            </p:cNvCxnSpPr>
            <p:nvPr/>
          </p:nvCxnSpPr>
          <p:spPr>
            <a:xfrm>
              <a:off x="6775800" y="1617750"/>
              <a:ext cx="2460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951D4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9" name="Google Shape;319;p51"/>
            <p:cNvSpPr txBox="1"/>
            <p:nvPr/>
          </p:nvSpPr>
          <p:spPr>
            <a:xfrm>
              <a:off x="1097400" y="1803438"/>
              <a:ext cx="10365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 or C or I</a:t>
              </a:r>
              <a:endParaRPr/>
            </a:p>
          </p:txBody>
        </p:sp>
        <p:sp>
          <p:nvSpPr>
            <p:cNvPr id="320" name="Google Shape;320;p51"/>
            <p:cNvSpPr txBox="1"/>
            <p:nvPr/>
          </p:nvSpPr>
          <p:spPr>
            <a:xfrm>
              <a:off x="3425250" y="1803438"/>
              <a:ext cx="10365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 or C or I</a:t>
              </a:r>
              <a:endParaRPr/>
            </a:p>
          </p:txBody>
        </p:sp>
        <p:sp>
          <p:nvSpPr>
            <p:cNvPr id="321" name="Google Shape;321;p51"/>
            <p:cNvSpPr txBox="1"/>
            <p:nvPr/>
          </p:nvSpPr>
          <p:spPr>
            <a:xfrm>
              <a:off x="5783250" y="1792313"/>
              <a:ext cx="10365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 or C or I</a:t>
              </a:r>
              <a:endParaRPr/>
            </a:p>
          </p:txBody>
        </p:sp>
      </p:grpSp>
      <p:grpSp>
        <p:nvGrpSpPr>
          <p:cNvPr id="322" name="Google Shape;322;p51"/>
          <p:cNvGrpSpPr/>
          <p:nvPr/>
        </p:nvGrpSpPr>
        <p:grpSpPr>
          <a:xfrm>
            <a:off x="1904713" y="2271175"/>
            <a:ext cx="2591374" cy="2745300"/>
            <a:chOff x="3200113" y="2271175"/>
            <a:chExt cx="2591374" cy="2745300"/>
          </a:xfrm>
        </p:grpSpPr>
        <p:pic>
          <p:nvPicPr>
            <p:cNvPr id="323" name="Google Shape;323;p51"/>
            <p:cNvPicPr preferRelativeResize="0"/>
            <p:nvPr/>
          </p:nvPicPr>
          <p:blipFill rotWithShape="1">
            <a:blip r:embed="rId3">
              <a:alphaModFix/>
            </a:blip>
            <a:srcRect b="0" l="36773" r="34135" t="0"/>
            <a:stretch/>
          </p:blipFill>
          <p:spPr>
            <a:xfrm>
              <a:off x="3200113" y="2271175"/>
              <a:ext cx="2591374" cy="27453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4" name="Google Shape;324;p51"/>
            <p:cNvCxnSpPr/>
            <p:nvPr/>
          </p:nvCxnSpPr>
          <p:spPr>
            <a:xfrm rot="10800000">
              <a:off x="4092100" y="2524825"/>
              <a:ext cx="0" cy="2238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51"/>
            <p:cNvCxnSpPr/>
            <p:nvPr/>
          </p:nvCxnSpPr>
          <p:spPr>
            <a:xfrm rot="10800000">
              <a:off x="4686725" y="2511579"/>
              <a:ext cx="0" cy="2238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6" name="Google Shape;326;p51"/>
          <p:cNvSpPr/>
          <p:nvPr/>
        </p:nvSpPr>
        <p:spPr>
          <a:xfrm>
            <a:off x="6470013" y="2889914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Active (A)</a:t>
            </a:r>
            <a:endParaRPr sz="1100"/>
          </a:p>
        </p:txBody>
      </p:sp>
      <p:sp>
        <p:nvSpPr>
          <p:cNvPr id="327" name="Google Shape;327;p51"/>
          <p:cNvSpPr/>
          <p:nvPr/>
        </p:nvSpPr>
        <p:spPr>
          <a:xfrm>
            <a:off x="6470013" y="3450219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Cramming (C)</a:t>
            </a:r>
            <a:endParaRPr sz="1100"/>
          </a:p>
        </p:txBody>
      </p:sp>
      <p:sp>
        <p:nvSpPr>
          <p:cNvPr id="328" name="Google Shape;328;p51"/>
          <p:cNvSpPr/>
          <p:nvPr/>
        </p:nvSpPr>
        <p:spPr>
          <a:xfrm>
            <a:off x="6470013" y="4078225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Inactive (I)</a:t>
            </a:r>
            <a:endParaRPr sz="1100"/>
          </a:p>
        </p:txBody>
      </p:sp>
      <p:cxnSp>
        <p:nvCxnSpPr>
          <p:cNvPr id="329" name="Google Shape;329;p51"/>
          <p:cNvCxnSpPr>
            <a:stCxn id="330" idx="3"/>
            <a:endCxn id="326" idx="1"/>
          </p:cNvCxnSpPr>
          <p:nvPr/>
        </p:nvCxnSpPr>
        <p:spPr>
          <a:xfrm>
            <a:off x="6001978" y="3045434"/>
            <a:ext cx="468000" cy="18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51"/>
          <p:cNvCxnSpPr>
            <a:stCxn id="332" idx="3"/>
            <a:endCxn id="327" idx="1"/>
          </p:cNvCxnSpPr>
          <p:nvPr/>
        </p:nvCxnSpPr>
        <p:spPr>
          <a:xfrm>
            <a:off x="6001998" y="3402743"/>
            <a:ext cx="468000" cy="221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51"/>
          <p:cNvCxnSpPr>
            <a:stCxn id="334" idx="3"/>
            <a:endCxn id="328" idx="1"/>
          </p:cNvCxnSpPr>
          <p:nvPr/>
        </p:nvCxnSpPr>
        <p:spPr>
          <a:xfrm>
            <a:off x="6001998" y="4065368"/>
            <a:ext cx="468000" cy="186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" name="Google Shape;335;p51"/>
          <p:cNvGrpSpPr/>
          <p:nvPr/>
        </p:nvGrpSpPr>
        <p:grpSpPr>
          <a:xfrm>
            <a:off x="5529906" y="2757595"/>
            <a:ext cx="472092" cy="1986317"/>
            <a:chOff x="4179875" y="1679850"/>
            <a:chExt cx="589525" cy="2251550"/>
          </a:xfrm>
        </p:grpSpPr>
        <p:pic>
          <p:nvPicPr>
            <p:cNvPr id="336" name="Google Shape;336;p51"/>
            <p:cNvPicPr preferRelativeResize="0"/>
            <p:nvPr/>
          </p:nvPicPr>
          <p:blipFill rotWithShape="1">
            <a:blip r:embed="rId3">
              <a:alphaModFix/>
            </a:blip>
            <a:srcRect b="5306" l="46571" r="46810" t="12679"/>
            <a:stretch/>
          </p:blipFill>
          <p:spPr>
            <a:xfrm>
              <a:off x="4179900" y="1679850"/>
              <a:ext cx="589500" cy="2251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51"/>
            <p:cNvSpPr/>
            <p:nvPr/>
          </p:nvSpPr>
          <p:spPr>
            <a:xfrm>
              <a:off x="4179900" y="2318595"/>
              <a:ext cx="589500" cy="1851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1"/>
            <p:cNvSpPr/>
            <p:nvPr/>
          </p:nvSpPr>
          <p:spPr>
            <a:xfrm>
              <a:off x="4179900" y="2994550"/>
              <a:ext cx="589500" cy="3354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1"/>
            <p:cNvSpPr/>
            <p:nvPr/>
          </p:nvSpPr>
          <p:spPr>
            <a:xfrm>
              <a:off x="4179875" y="1884175"/>
              <a:ext cx="589500" cy="2439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51"/>
          <p:cNvSpPr txBox="1"/>
          <p:nvPr/>
        </p:nvSpPr>
        <p:spPr>
          <a:xfrm>
            <a:off x="7791331" y="288992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:Evenly distributed</a:t>
            </a:r>
            <a:endParaRPr sz="1100"/>
          </a:p>
        </p:txBody>
      </p:sp>
      <p:sp>
        <p:nvSpPr>
          <p:cNvPr id="338" name="Google Shape;338;p51"/>
          <p:cNvSpPr txBox="1"/>
          <p:nvPr/>
        </p:nvSpPr>
        <p:spPr>
          <a:xfrm>
            <a:off x="7791331" y="348407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:Spiked</a:t>
            </a:r>
            <a:endParaRPr sz="1100"/>
          </a:p>
        </p:txBody>
      </p:sp>
      <p:sp>
        <p:nvSpPr>
          <p:cNvPr id="339" name="Google Shape;339;p51"/>
          <p:cNvSpPr txBox="1"/>
          <p:nvPr/>
        </p:nvSpPr>
        <p:spPr>
          <a:xfrm>
            <a:off x="7791331" y="407822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:Minimum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"/>
          <p:cNvSpPr txBox="1"/>
          <p:nvPr>
            <p:ph type="title"/>
          </p:nvPr>
        </p:nvSpPr>
        <p:spPr>
          <a:xfrm>
            <a:off x="430950" y="555600"/>
            <a:ext cx="8145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Finding#1: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875" y="2236351"/>
            <a:ext cx="3791001" cy="23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2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Cramming appeared to be a dominant pattern</a:t>
            </a:r>
            <a:endParaRPr sz="17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7" name="Google Shape;347;p52"/>
          <p:cNvSpPr/>
          <p:nvPr/>
        </p:nvSpPr>
        <p:spPr>
          <a:xfrm>
            <a:off x="6546213" y="222914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Active (A)</a:t>
            </a:r>
            <a:endParaRPr sz="1100"/>
          </a:p>
        </p:txBody>
      </p:sp>
      <p:sp>
        <p:nvSpPr>
          <p:cNvPr id="348" name="Google Shape;348;p52"/>
          <p:cNvSpPr/>
          <p:nvPr/>
        </p:nvSpPr>
        <p:spPr>
          <a:xfrm>
            <a:off x="6546213" y="783219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Cramming (C)</a:t>
            </a:r>
            <a:endParaRPr sz="1100"/>
          </a:p>
        </p:txBody>
      </p:sp>
      <p:sp>
        <p:nvSpPr>
          <p:cNvPr id="349" name="Google Shape;349;p52"/>
          <p:cNvSpPr/>
          <p:nvPr/>
        </p:nvSpPr>
        <p:spPr>
          <a:xfrm>
            <a:off x="6546213" y="1411225"/>
            <a:ext cx="1112400" cy="34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Inactive (I)</a:t>
            </a:r>
            <a:endParaRPr sz="1100"/>
          </a:p>
        </p:txBody>
      </p:sp>
      <p:cxnSp>
        <p:nvCxnSpPr>
          <p:cNvPr id="350" name="Google Shape;350;p52"/>
          <p:cNvCxnSpPr>
            <a:stCxn id="351" idx="3"/>
            <a:endCxn id="347" idx="1"/>
          </p:cNvCxnSpPr>
          <p:nvPr/>
        </p:nvCxnSpPr>
        <p:spPr>
          <a:xfrm>
            <a:off x="6078178" y="378434"/>
            <a:ext cx="468000" cy="18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52"/>
          <p:cNvCxnSpPr>
            <a:stCxn id="353" idx="3"/>
            <a:endCxn id="348" idx="1"/>
          </p:cNvCxnSpPr>
          <p:nvPr/>
        </p:nvCxnSpPr>
        <p:spPr>
          <a:xfrm>
            <a:off x="6078198" y="735743"/>
            <a:ext cx="468000" cy="221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52"/>
          <p:cNvCxnSpPr>
            <a:stCxn id="355" idx="3"/>
            <a:endCxn id="349" idx="1"/>
          </p:cNvCxnSpPr>
          <p:nvPr/>
        </p:nvCxnSpPr>
        <p:spPr>
          <a:xfrm>
            <a:off x="6078198" y="1398368"/>
            <a:ext cx="468000" cy="186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6" name="Google Shape;356;p52"/>
          <p:cNvGrpSpPr/>
          <p:nvPr/>
        </p:nvGrpSpPr>
        <p:grpSpPr>
          <a:xfrm>
            <a:off x="5606106" y="90595"/>
            <a:ext cx="472092" cy="1986317"/>
            <a:chOff x="4179875" y="1679850"/>
            <a:chExt cx="589525" cy="2251550"/>
          </a:xfrm>
        </p:grpSpPr>
        <p:pic>
          <p:nvPicPr>
            <p:cNvPr id="357" name="Google Shape;357;p52"/>
            <p:cNvPicPr preferRelativeResize="0"/>
            <p:nvPr/>
          </p:nvPicPr>
          <p:blipFill rotWithShape="1">
            <a:blip r:embed="rId4">
              <a:alphaModFix/>
            </a:blip>
            <a:srcRect b="5306" l="46571" r="46810" t="12679"/>
            <a:stretch/>
          </p:blipFill>
          <p:spPr>
            <a:xfrm>
              <a:off x="4179900" y="1679850"/>
              <a:ext cx="589500" cy="2251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52"/>
            <p:cNvSpPr/>
            <p:nvPr/>
          </p:nvSpPr>
          <p:spPr>
            <a:xfrm>
              <a:off x="4179900" y="2318595"/>
              <a:ext cx="589500" cy="1851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4179900" y="2994550"/>
              <a:ext cx="589500" cy="3354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4179875" y="1884175"/>
              <a:ext cx="589500" cy="243900"/>
            </a:xfrm>
            <a:prstGeom prst="rect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52"/>
          <p:cNvSpPr txBox="1"/>
          <p:nvPr/>
        </p:nvSpPr>
        <p:spPr>
          <a:xfrm>
            <a:off x="7867531" y="22292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:Evenly distributed</a:t>
            </a:r>
            <a:endParaRPr sz="1100"/>
          </a:p>
        </p:txBody>
      </p:sp>
      <p:sp>
        <p:nvSpPr>
          <p:cNvPr id="359" name="Google Shape;359;p52"/>
          <p:cNvSpPr txBox="1"/>
          <p:nvPr/>
        </p:nvSpPr>
        <p:spPr>
          <a:xfrm>
            <a:off x="7867531" y="81707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:Spiked</a:t>
            </a:r>
            <a:endParaRPr sz="1100"/>
          </a:p>
        </p:txBody>
      </p:sp>
      <p:sp>
        <p:nvSpPr>
          <p:cNvPr id="360" name="Google Shape;360;p52"/>
          <p:cNvSpPr txBox="1"/>
          <p:nvPr/>
        </p:nvSpPr>
        <p:spPr>
          <a:xfrm>
            <a:off x="7867531" y="1411224"/>
            <a:ext cx="132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:Minimum</a:t>
            </a:r>
            <a:endParaRPr sz="1100"/>
          </a:p>
        </p:txBody>
      </p:sp>
      <p:sp>
        <p:nvSpPr>
          <p:cNvPr id="361" name="Google Shape;361;p52"/>
          <p:cNvSpPr/>
          <p:nvPr/>
        </p:nvSpPr>
        <p:spPr>
          <a:xfrm>
            <a:off x="4902625" y="2380475"/>
            <a:ext cx="2423100" cy="566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/>
          <p:nvPr/>
        </p:nvSpPr>
        <p:spPr>
          <a:xfrm>
            <a:off x="4853825" y="2887100"/>
            <a:ext cx="2423100" cy="755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>
            <p:ph type="title"/>
          </p:nvPr>
        </p:nvSpPr>
        <p:spPr>
          <a:xfrm>
            <a:off x="235500" y="368825"/>
            <a:ext cx="879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Finding#2: </a:t>
            </a:r>
            <a:r>
              <a:rPr b="0" lang="en" sz="2300">
                <a:solidFill>
                  <a:srgbClr val="FF9900"/>
                </a:solidFill>
              </a:rPr>
              <a:t>Maintaining studying persistency early on is crucial</a:t>
            </a:r>
            <a:endParaRPr sz="3300"/>
          </a:p>
        </p:txBody>
      </p:sp>
      <p:sp>
        <p:nvSpPr>
          <p:cNvPr id="368" name="Google Shape;368;p53"/>
          <p:cNvSpPr txBox="1"/>
          <p:nvPr>
            <p:ph idx="1" type="body"/>
          </p:nvPr>
        </p:nvSpPr>
        <p:spPr>
          <a:xfrm>
            <a:off x="100575" y="1204825"/>
            <a:ext cx="4471500" cy="3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Staying Active/Cramming may help for</a:t>
            </a:r>
            <a:r>
              <a:rPr b="1" lang="en" sz="1800">
                <a:solidFill>
                  <a:srgbClr val="FFFFFF"/>
                </a:solidFill>
              </a:rPr>
              <a:t> low-performing students</a:t>
            </a:r>
            <a:r>
              <a:rPr lang="en" sz="1800">
                <a:solidFill>
                  <a:srgbClr val="FFFFFF"/>
                </a:solidFill>
              </a:rPr>
              <a:t>. 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Topics in E1 (Exam1) and E2 (Exam2) were important for students to build up the fundamentals of programming languages.</a:t>
            </a:r>
            <a:endParaRPr sz="18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369" name="Google Shape;369;p53"/>
          <p:cNvPicPr preferRelativeResize="0"/>
          <p:nvPr/>
        </p:nvPicPr>
        <p:blipFill rotWithShape="1">
          <a:blip r:embed="rId3">
            <a:alphaModFix/>
          </a:blip>
          <a:srcRect b="0" l="0" r="49018" t="4933"/>
          <a:stretch/>
        </p:blipFill>
        <p:spPr>
          <a:xfrm>
            <a:off x="5219725" y="1204825"/>
            <a:ext cx="3612574" cy="35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3"/>
          <p:cNvSpPr txBox="1"/>
          <p:nvPr/>
        </p:nvSpPr>
        <p:spPr>
          <a:xfrm>
            <a:off x="6629625" y="2791325"/>
            <a:ext cx="904800" cy="20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Exam Period</a:t>
            </a:r>
            <a:endParaRPr sz="800"/>
          </a:p>
        </p:txBody>
      </p:sp>
      <p:sp>
        <p:nvSpPr>
          <p:cNvPr id="371" name="Google Shape;371;p53"/>
          <p:cNvSpPr txBox="1"/>
          <p:nvPr/>
        </p:nvSpPr>
        <p:spPr>
          <a:xfrm>
            <a:off x="6573600" y="4554450"/>
            <a:ext cx="904800" cy="20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Exam Period</a:t>
            </a:r>
            <a:endParaRPr sz="800"/>
          </a:p>
        </p:txBody>
      </p:sp>
      <p:sp>
        <p:nvSpPr>
          <p:cNvPr id="372" name="Google Shape;372;p53"/>
          <p:cNvSpPr txBox="1"/>
          <p:nvPr/>
        </p:nvSpPr>
        <p:spPr>
          <a:xfrm rot="-5400000">
            <a:off x="4782025" y="1874025"/>
            <a:ext cx="904800" cy="2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Normalized Performance</a:t>
            </a:r>
            <a:endParaRPr sz="800"/>
          </a:p>
        </p:txBody>
      </p:sp>
      <p:sp>
        <p:nvSpPr>
          <p:cNvPr id="373" name="Google Shape;373;p53"/>
          <p:cNvSpPr txBox="1"/>
          <p:nvPr/>
        </p:nvSpPr>
        <p:spPr>
          <a:xfrm rot="-5400000">
            <a:off x="4782025" y="3754475"/>
            <a:ext cx="904800" cy="2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Normalized Performance</a:t>
            </a:r>
            <a:endParaRPr sz="800"/>
          </a:p>
        </p:txBody>
      </p:sp>
      <p:sp>
        <p:nvSpPr>
          <p:cNvPr id="374" name="Google Shape;37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On-going modeling: Signal processing analysis</a:t>
            </a:r>
            <a:endParaRPr/>
          </a:p>
        </p:txBody>
      </p:sp>
      <p:pic>
        <p:nvPicPr>
          <p:cNvPr id="380" name="Google Shape;38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860" y="1071250"/>
            <a:ext cx="2272239" cy="2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4"/>
          <p:cNvSpPr txBox="1"/>
          <p:nvPr/>
        </p:nvSpPr>
        <p:spPr>
          <a:xfrm>
            <a:off x="504800" y="1459825"/>
            <a:ext cx="3820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applied DWT (Discrete Wavelength Transform) based multiresolution analysis to decompose a signal into components. Which allows us to explore the “</a:t>
            </a:r>
            <a:r>
              <a:rPr lang="en">
                <a:solidFill>
                  <a:srgbClr val="FF9900"/>
                </a:solidFill>
              </a:rPr>
              <a:t>Spaced Practice Patterns</a:t>
            </a:r>
            <a:r>
              <a:rPr lang="en"/>
              <a:t>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Hope to share the results in EDM’21! </a:t>
            </a:r>
            <a:endParaRPr/>
          </a:p>
        </p:txBody>
      </p:sp>
      <p:grpSp>
        <p:nvGrpSpPr>
          <p:cNvPr id="382" name="Google Shape;382;p54"/>
          <p:cNvGrpSpPr/>
          <p:nvPr/>
        </p:nvGrpSpPr>
        <p:grpSpPr>
          <a:xfrm>
            <a:off x="3269377" y="3176225"/>
            <a:ext cx="5699700" cy="1785733"/>
            <a:chOff x="3269377" y="3176225"/>
            <a:chExt cx="5699700" cy="1785733"/>
          </a:xfrm>
        </p:grpSpPr>
        <p:grpSp>
          <p:nvGrpSpPr>
            <p:cNvPr id="383" name="Google Shape;383;p54"/>
            <p:cNvGrpSpPr/>
            <p:nvPr/>
          </p:nvGrpSpPr>
          <p:grpSpPr>
            <a:xfrm>
              <a:off x="3269377" y="3176225"/>
              <a:ext cx="5699700" cy="1785733"/>
              <a:chOff x="3132602" y="1151650"/>
              <a:chExt cx="5699700" cy="1785733"/>
            </a:xfrm>
          </p:grpSpPr>
          <p:pic>
            <p:nvPicPr>
              <p:cNvPr id="384" name="Google Shape;384;p5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132602" y="1151650"/>
                <a:ext cx="5699700" cy="14827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" name="Google Shape;385;p54"/>
              <p:cNvSpPr txBox="1"/>
              <p:nvPr/>
            </p:nvSpPr>
            <p:spPr>
              <a:xfrm>
                <a:off x="3192990" y="2704283"/>
                <a:ext cx="1778100" cy="23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" sz="1700">
                    <a:solidFill>
                      <a:srgbClr val="595959"/>
                    </a:solidFill>
                  </a:rPr>
                  <a:t>2-4 days per cycle</a:t>
                </a:r>
                <a:endParaRPr/>
              </a:p>
            </p:txBody>
          </p:sp>
        </p:grpSp>
        <p:sp>
          <p:nvSpPr>
            <p:cNvPr id="386" name="Google Shape;386;p54"/>
            <p:cNvSpPr txBox="1"/>
            <p:nvPr/>
          </p:nvSpPr>
          <p:spPr>
            <a:xfrm>
              <a:off x="5183315" y="4703433"/>
              <a:ext cx="1778100" cy="2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700">
                  <a:solidFill>
                    <a:srgbClr val="595959"/>
                  </a:solidFill>
                </a:rPr>
                <a:t>4-8 days per cycle</a:t>
              </a:r>
              <a:endParaRPr/>
            </a:p>
          </p:txBody>
        </p:sp>
        <p:sp>
          <p:nvSpPr>
            <p:cNvPr id="387" name="Google Shape;387;p54"/>
            <p:cNvSpPr txBox="1"/>
            <p:nvPr/>
          </p:nvSpPr>
          <p:spPr>
            <a:xfrm>
              <a:off x="7054191" y="4728858"/>
              <a:ext cx="1778100" cy="2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700">
                  <a:solidFill>
                    <a:srgbClr val="595959"/>
                  </a:solidFill>
                </a:rPr>
                <a:t>8-16 days per cycle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type="title"/>
          </p:nvPr>
        </p:nvSpPr>
        <p:spPr>
          <a:xfrm>
            <a:off x="311700" y="33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consider to submit papers to EDM’21 </a:t>
            </a:r>
            <a:endParaRPr/>
          </a:p>
        </p:txBody>
      </p:sp>
      <p:pic>
        <p:nvPicPr>
          <p:cNvPr id="393" name="Google Shape;39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375" y="1127600"/>
            <a:ext cx="5148893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9650" y="211188"/>
            <a:ext cx="813626" cy="81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R2: Learning Computational Thinking in Augmented Reality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in learning CS &amp; CT</a:t>
            </a:r>
            <a:endParaRPr/>
          </a:p>
        </p:txBody>
      </p:sp>
      <p:sp>
        <p:nvSpPr>
          <p:cNvPr id="405" name="Google Shape;405;p57"/>
          <p:cNvSpPr txBox="1"/>
          <p:nvPr>
            <p:ph idx="1" type="body"/>
          </p:nvPr>
        </p:nvSpPr>
        <p:spPr>
          <a:xfrm>
            <a:off x="311700" y="1200600"/>
            <a:ext cx="8520600" cy="3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 the success in other science subjects (medical, chemistry…), capitalize  the highly visual and highly interactive characteristics in AR, in a less explored field, CS.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AR can support </a:t>
            </a:r>
            <a:r>
              <a:rPr lang="en">
                <a:solidFill>
                  <a:srgbClr val="FF9900"/>
                </a:solidFill>
              </a:rPr>
              <a:t>discovery- &amp; project-based learning:</a:t>
            </a:r>
            <a:r>
              <a:rPr lang="en"/>
              <a:t> by enriching learner’s experience by providing opportunities and tools to explore the problem to solve, and foster deeper understanding through such explorations. </a:t>
            </a:r>
            <a:r>
              <a:rPr lang="en" sz="1100"/>
              <a:t>(Seel, 2011) </a:t>
            </a:r>
            <a:r>
              <a:rPr lang="en">
                <a:solidFill>
                  <a:srgbClr val="FF9900"/>
                </a:solidFill>
              </a:rPr>
              <a:t>Learning by doing</a:t>
            </a:r>
            <a:r>
              <a:rPr lang="en" sz="1100">
                <a:solidFill>
                  <a:srgbClr val="FF9900"/>
                </a:solidFill>
              </a:rPr>
              <a:t> </a:t>
            </a:r>
            <a:r>
              <a:rPr lang="en" sz="1100"/>
              <a:t>(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Dewey, 2013)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8"/>
          <p:cNvSpPr txBox="1"/>
          <p:nvPr>
            <p:ph type="title"/>
          </p:nvPr>
        </p:nvSpPr>
        <p:spPr>
          <a:xfrm>
            <a:off x="311700" y="166150"/>
            <a:ext cx="2938200" cy="11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platform: </a:t>
            </a:r>
            <a:r>
              <a:rPr lang="en">
                <a:solidFill>
                  <a:srgbClr val="FF9900"/>
                </a:solidFill>
              </a:rPr>
              <a:t>Ogmented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411" name="Google Shape;411;p58"/>
          <p:cNvSpPr txBox="1"/>
          <p:nvPr>
            <p:ph idx="1" type="body"/>
          </p:nvPr>
        </p:nvSpPr>
        <p:spPr>
          <a:xfrm>
            <a:off x="311700" y="1640350"/>
            <a:ext cx="31398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Innovative mobile application to learn computational thinking &amp; coding  in AR.</a:t>
            </a:r>
            <a:endParaRPr sz="1500"/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12" name="Google Shape;41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825" y="639127"/>
            <a:ext cx="4643861" cy="36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Uniqueness of Ogmented:</a:t>
            </a:r>
            <a:endParaRPr/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Multimodal data analytics collection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Embodiment and collaboration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3D debugging practices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Playful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Accessible &amp; inexpensive  </a:t>
            </a:r>
            <a:endParaRPr sz="1600"/>
          </a:p>
        </p:txBody>
      </p:sp>
      <p:pic>
        <p:nvPicPr>
          <p:cNvPr id="419" name="Google Shape;4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375" y="694700"/>
            <a:ext cx="5719501" cy="3619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0"/>
          <p:cNvSpPr txBox="1"/>
          <p:nvPr>
            <p:ph type="title"/>
          </p:nvPr>
        </p:nvSpPr>
        <p:spPr>
          <a:xfrm>
            <a:off x="311700" y="1441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Ogmented design framework aligns CT model</a:t>
            </a:r>
            <a:endParaRPr sz="2900"/>
          </a:p>
        </p:txBody>
      </p:sp>
      <p:pic>
        <p:nvPicPr>
          <p:cNvPr id="425" name="Google Shape;42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350" y="899050"/>
            <a:ext cx="7094476" cy="42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350" y="1161725"/>
            <a:ext cx="1788998" cy="134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350" y="3260725"/>
            <a:ext cx="1788998" cy="134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1"/>
          <p:cNvSpPr txBox="1"/>
          <p:nvPr>
            <p:ph type="title"/>
          </p:nvPr>
        </p:nvSpPr>
        <p:spPr>
          <a:xfrm>
            <a:off x="311700" y="555600"/>
            <a:ext cx="3072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Arial"/>
                <a:ea typeface="Arial"/>
                <a:cs typeface="Arial"/>
                <a:sym typeface="Arial"/>
              </a:rPr>
              <a:t>Preliminary Results on</a:t>
            </a:r>
            <a:endParaRPr b="0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Arial"/>
                <a:ea typeface="Arial"/>
                <a:cs typeface="Arial"/>
                <a:sym typeface="Arial"/>
              </a:rPr>
              <a:t>Collaborative Debugging</a:t>
            </a:r>
            <a:endParaRPr b="0" sz="3100"/>
          </a:p>
        </p:txBody>
      </p:sp>
      <p:sp>
        <p:nvSpPr>
          <p:cNvPr id="433" name="Google Shape;433;p61"/>
          <p:cNvSpPr txBox="1"/>
          <p:nvPr>
            <p:ph idx="1" type="body"/>
          </p:nvPr>
        </p:nvSpPr>
        <p:spPr>
          <a:xfrm>
            <a:off x="311700" y="1530975"/>
            <a:ext cx="3230700" cy="3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are the AR effects?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students learn better?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do they </a:t>
            </a:r>
            <a:r>
              <a:rPr lang="en" sz="16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collaborate on a debugging task with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without </a:t>
            </a:r>
            <a:r>
              <a:rPr lang="en" sz="16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support?</a:t>
            </a:r>
            <a:endParaRPr sz="1800">
              <a:solidFill>
                <a:srgbClr val="FFFFFF"/>
              </a:solidFill>
            </a:endParaRPr>
          </a:p>
        </p:txBody>
      </p:sp>
      <p:grpSp>
        <p:nvGrpSpPr>
          <p:cNvPr id="434" name="Google Shape;434;p61"/>
          <p:cNvGrpSpPr/>
          <p:nvPr/>
        </p:nvGrpSpPr>
        <p:grpSpPr>
          <a:xfrm>
            <a:off x="3638195" y="721615"/>
            <a:ext cx="4955860" cy="3667604"/>
            <a:chOff x="11004925" y="3788650"/>
            <a:chExt cx="9782590" cy="7705050"/>
          </a:xfrm>
        </p:grpSpPr>
        <p:pic>
          <p:nvPicPr>
            <p:cNvPr id="435" name="Google Shape;435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871800" y="7913200"/>
              <a:ext cx="4915715" cy="298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61"/>
            <p:cNvPicPr preferRelativeResize="0"/>
            <p:nvPr/>
          </p:nvPicPr>
          <p:blipFill rotWithShape="1">
            <a:blip r:embed="rId4">
              <a:alphaModFix/>
            </a:blip>
            <a:srcRect b="2362" l="0" r="0" t="0"/>
            <a:stretch/>
          </p:blipFill>
          <p:spPr>
            <a:xfrm>
              <a:off x="15871800" y="3788650"/>
              <a:ext cx="4915694" cy="3536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61"/>
            <p:cNvPicPr preferRelativeResize="0"/>
            <p:nvPr/>
          </p:nvPicPr>
          <p:blipFill rotWithShape="1">
            <a:blip r:embed="rId5">
              <a:alphaModFix/>
            </a:blip>
            <a:srcRect b="5825" l="0" r="0" t="12004"/>
            <a:stretch/>
          </p:blipFill>
          <p:spPr>
            <a:xfrm>
              <a:off x="11004925" y="7913200"/>
              <a:ext cx="4715324" cy="2987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004925" y="3788650"/>
              <a:ext cx="4715325" cy="3536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61"/>
            <p:cNvSpPr txBox="1"/>
            <p:nvPr/>
          </p:nvSpPr>
          <p:spPr>
            <a:xfrm>
              <a:off x="11004925" y="7325125"/>
              <a:ext cx="4715400" cy="4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</a:rPr>
                <a:t>Interface of Debugging Task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440" name="Google Shape;440;p61"/>
            <p:cNvSpPr txBox="1"/>
            <p:nvPr/>
          </p:nvSpPr>
          <p:spPr>
            <a:xfrm>
              <a:off x="15871800" y="7325125"/>
              <a:ext cx="4523100" cy="4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</a:rPr>
                <a:t>Participants Working in NonAR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441" name="Google Shape;441;p61"/>
            <p:cNvSpPr txBox="1"/>
            <p:nvPr/>
          </p:nvSpPr>
          <p:spPr>
            <a:xfrm>
              <a:off x="15871800" y="10901050"/>
              <a:ext cx="4523100" cy="4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</a:rPr>
                <a:t>Participants Working in AR</a:t>
              </a:r>
              <a:endParaRPr sz="1200">
                <a:solidFill>
                  <a:srgbClr val="FFFFFF"/>
                </a:solidFill>
              </a:endParaRPr>
            </a:p>
          </p:txBody>
        </p:sp>
        <p:sp>
          <p:nvSpPr>
            <p:cNvPr id="442" name="Google Shape;442;p61"/>
            <p:cNvSpPr txBox="1"/>
            <p:nvPr/>
          </p:nvSpPr>
          <p:spPr>
            <a:xfrm>
              <a:off x="11004925" y="10912600"/>
              <a:ext cx="47154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</a:rPr>
                <a:t>Participants Adjusting Poses in AR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2"/>
          <p:cNvSpPr txBox="1"/>
          <p:nvPr/>
        </p:nvSpPr>
        <p:spPr>
          <a:xfrm>
            <a:off x="460175" y="3678500"/>
            <a:ext cx="83901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Code-editing Behavior: </a:t>
            </a:r>
            <a:r>
              <a:rPr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has a more “concentrated” edit pattern and NonAR is less “concentrated”.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62"/>
          <p:cNvSpPr txBox="1"/>
          <p:nvPr>
            <p:ph type="title"/>
          </p:nvPr>
        </p:nvSpPr>
        <p:spPr>
          <a:xfrm>
            <a:off x="460175" y="439130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group </a:t>
            </a:r>
            <a:r>
              <a:rPr b="0" i="1" lang="en" sz="24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seems</a:t>
            </a:r>
            <a:r>
              <a:rPr b="0" lang="en" sz="24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be more efficient than NonAR.</a:t>
            </a:r>
            <a:endParaRPr b="0" sz="4100">
              <a:solidFill>
                <a:srgbClr val="FF9900"/>
              </a:solidFill>
            </a:endParaRPr>
          </a:p>
        </p:txBody>
      </p:sp>
      <p:grpSp>
        <p:nvGrpSpPr>
          <p:cNvPr id="449" name="Google Shape;449;p62"/>
          <p:cNvGrpSpPr/>
          <p:nvPr/>
        </p:nvGrpSpPr>
        <p:grpSpPr>
          <a:xfrm>
            <a:off x="1167288" y="650450"/>
            <a:ext cx="6750604" cy="3028061"/>
            <a:chOff x="2081688" y="650450"/>
            <a:chExt cx="6750604" cy="3028061"/>
          </a:xfrm>
        </p:grpSpPr>
        <p:pic>
          <p:nvPicPr>
            <p:cNvPr id="450" name="Google Shape;450;p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81688" y="753725"/>
              <a:ext cx="6750604" cy="29247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1" name="Google Shape;451;p62"/>
            <p:cNvCxnSpPr/>
            <p:nvPr/>
          </p:nvCxnSpPr>
          <p:spPr>
            <a:xfrm>
              <a:off x="3743200" y="2180375"/>
              <a:ext cx="551400" cy="5337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sp>
          <p:nvSpPr>
            <p:cNvPr id="452" name="Google Shape;452;p62"/>
            <p:cNvSpPr txBox="1"/>
            <p:nvPr/>
          </p:nvSpPr>
          <p:spPr>
            <a:xfrm>
              <a:off x="7079295" y="1774642"/>
              <a:ext cx="1285200" cy="992400"/>
            </a:xfrm>
            <a:prstGeom prst="rect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2"/>
            <p:cNvSpPr txBox="1"/>
            <p:nvPr/>
          </p:nvSpPr>
          <p:spPr>
            <a:xfrm>
              <a:off x="7217601" y="2883750"/>
              <a:ext cx="1614600" cy="595200"/>
            </a:xfrm>
            <a:prstGeom prst="rect">
              <a:avLst/>
            </a:prstGeom>
            <a:solidFill>
              <a:srgbClr val="85200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Edits are sparse and all over the place. 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62"/>
            <p:cNvSpPr txBox="1"/>
            <p:nvPr/>
          </p:nvSpPr>
          <p:spPr>
            <a:xfrm>
              <a:off x="3662375" y="2952750"/>
              <a:ext cx="1831200" cy="606300"/>
            </a:xfrm>
            <a:prstGeom prst="rect">
              <a:avLst/>
            </a:prstGeom>
            <a:solidFill>
              <a:srgbClr val="85200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Edits are concentrated and following  steps.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55" name="Google Shape;455;p62"/>
            <p:cNvGrpSpPr/>
            <p:nvPr/>
          </p:nvGrpSpPr>
          <p:grpSpPr>
            <a:xfrm>
              <a:off x="3667000" y="650450"/>
              <a:ext cx="4021875" cy="411600"/>
              <a:chOff x="3667000" y="269450"/>
              <a:chExt cx="4021875" cy="411600"/>
            </a:xfrm>
          </p:grpSpPr>
          <p:sp>
            <p:nvSpPr>
              <p:cNvPr id="456" name="Google Shape;456;p62"/>
              <p:cNvSpPr txBox="1"/>
              <p:nvPr/>
            </p:nvSpPr>
            <p:spPr>
              <a:xfrm>
                <a:off x="3667000" y="269450"/>
                <a:ext cx="479700" cy="411600"/>
              </a:xfrm>
              <a:prstGeom prst="rect">
                <a:avLst/>
              </a:prstGeom>
              <a:solidFill>
                <a:srgbClr val="4A86E8">
                  <a:alpha val="764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AR</a:t>
                </a:r>
                <a:endParaRPr b="1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7" name="Google Shape;457;p62"/>
              <p:cNvSpPr txBox="1"/>
              <p:nvPr/>
            </p:nvSpPr>
            <p:spPr>
              <a:xfrm>
                <a:off x="6790975" y="269450"/>
                <a:ext cx="897900" cy="411600"/>
              </a:xfrm>
              <a:prstGeom prst="rect">
                <a:avLst/>
              </a:prstGeom>
              <a:solidFill>
                <a:srgbClr val="4A86E8">
                  <a:alpha val="764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Non-AR</a:t>
                </a:r>
                <a:endParaRPr b="1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58" name="Google Shape;458;p62"/>
          <p:cNvSpPr txBox="1"/>
          <p:nvPr/>
        </p:nvSpPr>
        <p:spPr>
          <a:xfrm>
            <a:off x="2377050" y="53725"/>
            <a:ext cx="50628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Counts of ineffective edits in AR and NonAR matrix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>
            <p:ph type="title"/>
          </p:nvPr>
        </p:nvSpPr>
        <p:spPr>
          <a:xfrm>
            <a:off x="311700" y="116900"/>
            <a:ext cx="85206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Dyads in AR produced better answers with significant lower global error rate.</a:t>
            </a:r>
            <a:endParaRPr b="0"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64" name="Google Shape;46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775" y="908137"/>
            <a:ext cx="4448344" cy="166362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3"/>
          <p:cNvSpPr txBox="1"/>
          <p:nvPr>
            <p:ph idx="1" type="body"/>
          </p:nvPr>
        </p:nvSpPr>
        <p:spPr>
          <a:xfrm>
            <a:off x="311700" y="1391875"/>
            <a:ext cx="3824700" cy="21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error (overall code structure) i.e. incorrect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 error (code implementation) i.e. incorrect parameter values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3"/>
          <p:cNvGrpSpPr/>
          <p:nvPr/>
        </p:nvGrpSpPr>
        <p:grpSpPr>
          <a:xfrm>
            <a:off x="311700" y="2838827"/>
            <a:ext cx="7707819" cy="2228948"/>
            <a:chOff x="311700" y="2838827"/>
            <a:chExt cx="7707819" cy="2228948"/>
          </a:xfrm>
        </p:grpSpPr>
        <p:grpSp>
          <p:nvGrpSpPr>
            <p:cNvPr id="467" name="Google Shape;467;p63"/>
            <p:cNvGrpSpPr/>
            <p:nvPr/>
          </p:nvGrpSpPr>
          <p:grpSpPr>
            <a:xfrm>
              <a:off x="311700" y="2838827"/>
              <a:ext cx="7412837" cy="2228948"/>
              <a:chOff x="311700" y="2838827"/>
              <a:chExt cx="7412837" cy="2228948"/>
            </a:xfrm>
          </p:grpSpPr>
          <p:pic>
            <p:nvPicPr>
              <p:cNvPr id="468" name="Google Shape;468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43097" r="0" t="0"/>
              <a:stretch/>
            </p:blipFill>
            <p:spPr>
              <a:xfrm>
                <a:off x="5203367" y="2838827"/>
                <a:ext cx="2521171" cy="20446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9" name="Google Shape;469;p63"/>
              <p:cNvSpPr txBox="1"/>
              <p:nvPr/>
            </p:nvSpPr>
            <p:spPr>
              <a:xfrm>
                <a:off x="311700" y="3506575"/>
                <a:ext cx="4015500" cy="156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spAutoFit/>
              </a:bodyPr>
              <a:lstStyle/>
              <a:p>
                <a:pPr indent="-342900" lvl="0" marL="45720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ato"/>
                  <a:buChar char="●"/>
                </a:pPr>
                <a:r>
                  <a:rPr lang="en" sz="18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AR group had significantly lower ratio of ineffective code edits than NonAR.</a:t>
                </a:r>
                <a:endParaRPr sz="1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70" name="Google Shape;470;p63"/>
            <p:cNvSpPr txBox="1"/>
            <p:nvPr/>
          </p:nvSpPr>
          <p:spPr>
            <a:xfrm>
              <a:off x="6509019" y="3127254"/>
              <a:ext cx="1510500" cy="379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t=-2.40, p=0.03*</a:t>
              </a:r>
              <a:endParaRPr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64"/>
          <p:cNvGrpSpPr/>
          <p:nvPr/>
        </p:nvGrpSpPr>
        <p:grpSpPr>
          <a:xfrm>
            <a:off x="-1867431" y="1039792"/>
            <a:ext cx="10035657" cy="5684027"/>
            <a:chOff x="21259950" y="9221063"/>
            <a:chExt cx="10097250" cy="5591213"/>
          </a:xfrm>
        </p:grpSpPr>
        <p:pic>
          <p:nvPicPr>
            <p:cNvPr id="476" name="Google Shape;476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983225" y="9221063"/>
              <a:ext cx="6195203" cy="309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64"/>
            <p:cNvSpPr txBox="1"/>
            <p:nvPr/>
          </p:nvSpPr>
          <p:spPr>
            <a:xfrm>
              <a:off x="21259950" y="12916875"/>
              <a:ext cx="9933900" cy="18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p64"/>
            <p:cNvSpPr txBox="1"/>
            <p:nvPr/>
          </p:nvSpPr>
          <p:spPr>
            <a:xfrm>
              <a:off x="24489600" y="12301475"/>
              <a:ext cx="6867600" cy="52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Note: P = Parameter Tweaking; C = Command Tweaking; </a:t>
              </a:r>
              <a:endParaRPr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These two items constitute edit sequences and are captured by “states” in HMM, e.g., PP, PC, etc.</a:t>
              </a:r>
              <a:endParaRPr sz="1200"/>
            </a:p>
          </p:txBody>
        </p:sp>
        <p:sp>
          <p:nvSpPr>
            <p:cNvPr id="479" name="Google Shape;479;p64"/>
            <p:cNvSpPr/>
            <p:nvPr/>
          </p:nvSpPr>
          <p:spPr>
            <a:xfrm flipH="1" rot="-5400000">
              <a:off x="25757250" y="10345975"/>
              <a:ext cx="939300" cy="847800"/>
            </a:xfrm>
            <a:prstGeom prst="uturnArrow">
              <a:avLst>
                <a:gd fmla="val 19774" name="adj1"/>
                <a:gd fmla="val 25000" name="adj2"/>
                <a:gd fmla="val 34810" name="adj3"/>
                <a:gd fmla="val 43750" name="adj4"/>
                <a:gd fmla="val 100000" name="adj5"/>
              </a:avLst>
            </a:prstGeom>
            <a:solidFill>
              <a:srgbClr val="4A86E8">
                <a:alpha val="294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64"/>
          <p:cNvSpPr txBox="1"/>
          <p:nvPr/>
        </p:nvSpPr>
        <p:spPr>
          <a:xfrm>
            <a:off x="424200" y="141725"/>
            <a:ext cx="80766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HMM models illustrated that AR had a clearer edit path than NonAR.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1" name="Google Shape;481;p64"/>
          <p:cNvSpPr txBox="1"/>
          <p:nvPr/>
        </p:nvSpPr>
        <p:spPr>
          <a:xfrm>
            <a:off x="5876575" y="650450"/>
            <a:ext cx="897900" cy="411600"/>
          </a:xfrm>
          <a:prstGeom prst="rect">
            <a:avLst/>
          </a:prstGeom>
          <a:solidFill>
            <a:srgbClr val="4A86E8">
              <a:alpha val="7647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Non-AR</a:t>
            </a:r>
            <a:endParaRPr b="1" sz="1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64"/>
          <p:cNvSpPr txBox="1"/>
          <p:nvPr/>
        </p:nvSpPr>
        <p:spPr>
          <a:xfrm>
            <a:off x="2834350" y="650450"/>
            <a:ext cx="496200" cy="411600"/>
          </a:xfrm>
          <a:prstGeom prst="rect">
            <a:avLst/>
          </a:prstGeom>
          <a:solidFill>
            <a:srgbClr val="4A86E8">
              <a:alpha val="7647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</a:t>
            </a:r>
            <a:endParaRPr b="1" sz="1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5"/>
          <p:cNvSpPr txBox="1"/>
          <p:nvPr>
            <p:ph type="title"/>
          </p:nvPr>
        </p:nvSpPr>
        <p:spPr>
          <a:xfrm>
            <a:off x="311700" y="2965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Discourse Analysis revealed that AR</a:t>
            </a:r>
            <a:r>
              <a:rPr lang="en" sz="2400">
                <a:solidFill>
                  <a:srgbClr val="FFFFFF"/>
                </a:solidFill>
              </a:rPr>
              <a:t> group talked more.</a:t>
            </a:r>
            <a:endParaRPr sz="2400">
              <a:solidFill>
                <a:srgbClr val="FFFFFF"/>
              </a:solidFill>
            </a:endParaRPr>
          </a:p>
        </p:txBody>
      </p:sp>
      <p:grpSp>
        <p:nvGrpSpPr>
          <p:cNvPr id="488" name="Google Shape;488;p65"/>
          <p:cNvGrpSpPr/>
          <p:nvPr/>
        </p:nvGrpSpPr>
        <p:grpSpPr>
          <a:xfrm>
            <a:off x="504600" y="1339325"/>
            <a:ext cx="3648450" cy="3364625"/>
            <a:chOff x="21249750" y="14819675"/>
            <a:chExt cx="3648450" cy="3364625"/>
          </a:xfrm>
        </p:grpSpPr>
        <p:pic>
          <p:nvPicPr>
            <p:cNvPr id="489" name="Google Shape;489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249750" y="15086652"/>
              <a:ext cx="3548450" cy="30976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65"/>
            <p:cNvSpPr txBox="1"/>
            <p:nvPr/>
          </p:nvSpPr>
          <p:spPr>
            <a:xfrm>
              <a:off x="23223300" y="14819675"/>
              <a:ext cx="1674900" cy="3573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t=-4.79, p=0.00*</a:t>
              </a:r>
              <a:endParaRPr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91" name="Google Shape;491;p65"/>
          <p:cNvSpPr txBox="1"/>
          <p:nvPr/>
        </p:nvSpPr>
        <p:spPr>
          <a:xfrm>
            <a:off x="4572000" y="3311450"/>
            <a:ext cx="42585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group asked more questions, made more suggestions, and had more “interactive communication”.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65"/>
          <p:cNvSpPr txBox="1"/>
          <p:nvPr/>
        </p:nvSpPr>
        <p:spPr>
          <a:xfrm>
            <a:off x="4341950" y="941525"/>
            <a:ext cx="4434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TaskState: Relevant to task states and outcomes, e.g., “It went too far."</a:t>
            </a:r>
            <a:br>
              <a:rPr lang="en" sz="1100"/>
            </a:br>
            <a:r>
              <a:rPr lang="en" sz="1100"/>
              <a:t> 						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Inter: Describing an internal states (like intentions, questions, suggestions), e.g., “I think it should be ’climb down’ because..."</a:t>
            </a:r>
            <a:br>
              <a:rPr lang="en" sz="1100"/>
            </a:br>
            <a:r>
              <a:rPr lang="en" sz="1100"/>
              <a:t> 						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Progress: Describing a progress of the task, e.g., “I’ll make it...", “Let’s try...", “Let me try..."</a:t>
            </a:r>
            <a:br>
              <a:rPr lang="en" sz="1100"/>
            </a:br>
            <a:r>
              <a:rPr lang="en" sz="1100"/>
              <a:t> 						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Ack: Acknowledgement, e.g., “yeah.", “okay."</a:t>
            </a:r>
            <a:br>
              <a:rPr lang="en" sz="1100"/>
            </a:br>
            <a:r>
              <a:rPr lang="en" sz="1100"/>
              <a:t> 						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Other: Any others that do not fall into the above categories.</a:t>
            </a:r>
            <a:br>
              <a:rPr lang="en" sz="1100"/>
            </a:br>
            <a:endParaRPr sz="1100"/>
          </a:p>
        </p:txBody>
      </p:sp>
      <p:sp>
        <p:nvSpPr>
          <p:cNvPr id="493" name="Google Shape;493;p65"/>
          <p:cNvSpPr txBox="1"/>
          <p:nvPr/>
        </p:nvSpPr>
        <p:spPr>
          <a:xfrm>
            <a:off x="1602500" y="1512025"/>
            <a:ext cx="5814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6"/>
          <p:cNvSpPr txBox="1"/>
          <p:nvPr>
            <p:ph type="title"/>
          </p:nvPr>
        </p:nvSpPr>
        <p:spPr>
          <a:xfrm>
            <a:off x="311700" y="2203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current &amp; pending </a:t>
            </a:r>
            <a:endParaRPr/>
          </a:p>
        </p:txBody>
      </p:sp>
      <p:sp>
        <p:nvSpPr>
          <p:cNvPr id="499" name="Google Shape;499;p66"/>
          <p:cNvSpPr txBox="1"/>
          <p:nvPr>
            <p:ph idx="1" type="body"/>
          </p:nvPr>
        </p:nvSpPr>
        <p:spPr>
          <a:xfrm>
            <a:off x="311700" y="1091525"/>
            <a:ext cx="6388800" cy="3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Collaboration, Coding, Cross-Cultural Communication, and Computational Thinking through Virtual Exchange, Stevens Institute </a:t>
            </a:r>
            <a:r>
              <a:rPr lang="en" sz="1500">
                <a:solidFill>
                  <a:srgbClr val="FF9900"/>
                </a:solidFill>
              </a:rPr>
              <a:t>(conditional) </a:t>
            </a:r>
            <a:r>
              <a:rPr i="1" lang="en" sz="1500">
                <a:solidFill>
                  <a:srgbClr val="FFFF00"/>
                </a:solidFill>
              </a:rPr>
              <a:t>&lt;Xavier College Prep + MENA&gt; </a:t>
            </a:r>
            <a:endParaRPr i="1"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rgbClr val="FF9900"/>
                </a:solidFill>
              </a:rPr>
              <a:t>(PI) </a:t>
            </a:r>
            <a:r>
              <a:rPr lang="en" sz="1500"/>
              <a:t>NSF: Collaborative Research: IUSE: Enriching Computational Thinking in Introductory Computing Classes with CIPAR (Collaborative Immersive Programming in Augmented Reality) (pending) </a:t>
            </a:r>
            <a:r>
              <a:rPr i="1" lang="en" sz="1500">
                <a:solidFill>
                  <a:srgbClr val="FFFF00"/>
                </a:solidFill>
              </a:rPr>
              <a:t>&lt;My team + UCDavis &gt;</a:t>
            </a:r>
            <a:endParaRPr i="1"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rgbClr val="FF9900"/>
                </a:solidFill>
              </a:rPr>
              <a:t>(PI) </a:t>
            </a:r>
            <a:r>
              <a:rPr lang="en" sz="1500"/>
              <a:t>NSF: AISL: </a:t>
            </a:r>
            <a:r>
              <a:rPr i="1" lang="en" sz="1500"/>
              <a:t>gARdenView</a:t>
            </a:r>
            <a:r>
              <a:rPr lang="en" sz="1500"/>
              <a:t> Engaging Botanical Education via Personalized Guidance in Augmented Reality (pending) </a:t>
            </a:r>
            <a:r>
              <a:rPr i="1" lang="en" sz="1500">
                <a:solidFill>
                  <a:srgbClr val="FFFF00"/>
                </a:solidFill>
              </a:rPr>
              <a:t>&lt;Desert Botanical Garden + biodiversity institute&gt;</a:t>
            </a:r>
            <a:endParaRPr i="1"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NSF: HCC: Medium: AR for Upskilling: How Interfaces and Instructional Sequences Interact in a Changing Workforce (pending)  </a:t>
            </a:r>
            <a:r>
              <a:rPr i="1" lang="en" sz="1500">
                <a:solidFill>
                  <a:srgbClr val="FFFF00"/>
                </a:solidFill>
              </a:rPr>
              <a:t>&lt;City of Mesa cooling plant&gt;</a:t>
            </a:r>
            <a:endParaRPr i="1" sz="1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500" name="Google Shape;50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800" y="2571750"/>
            <a:ext cx="2543201" cy="16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 Publications</a:t>
            </a:r>
            <a:endParaRPr/>
          </a:p>
        </p:txBody>
      </p:sp>
      <p:sp>
        <p:nvSpPr>
          <p:cNvPr id="506" name="Google Shape;506;p6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Chung, C. Y., &amp; Hsiao, I. H. (2019, March). An exploratory study of augmented embodiment for computational thinking. In Proceedings of the 24th International Conference on Intelligent User Interfaces: Companion (pp. 37-38).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Chung, C. Y., &amp; Hsiao, I. H. (2020, June). Computational Thinking in Augmented Reality: An Investigation of Collaborative Debugging Practices. In 2020 6th International Conference of the Immersive Learning Research Network (iLRN) (pp. 54-61). IEEE.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Chung, C. Y., &amp; Hsiao, I. H. (2021, to appear) Exploring the Effect of Augmented Reality on Verbal Communication and Code-editing Patterns in a Collaborative Programming Task, IEEE The 21st International Conference on Advanced Learning Technologies.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Chung, C. Y., &amp; Hsiao, I. H. Multimodal Analytics of Collaborative Programming Problem-Solving in Augmented Reality, </a:t>
            </a:r>
            <a:r>
              <a:rPr i="1"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Transactions on Learning Technologies </a:t>
            </a: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(under review)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sz="11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1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12" name="Google Shape;512;p68"/>
          <p:cNvSpPr txBox="1"/>
          <p:nvPr>
            <p:ph idx="1" type="body"/>
          </p:nvPr>
        </p:nvSpPr>
        <p:spPr>
          <a:xfrm>
            <a:off x="251125" y="4115175"/>
            <a:ext cx="8520600" cy="9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Sharon Hsiao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http://www.public.asu.edu/~ihsiao1/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@shoha99</a:t>
            </a:r>
            <a:endParaRPr/>
          </a:p>
        </p:txBody>
      </p:sp>
      <p:pic>
        <p:nvPicPr>
          <p:cNvPr descr="qrcode.31873461.png" id="513" name="Google Shape;51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751" y="4254063"/>
            <a:ext cx="678925" cy="6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1645" y="1017725"/>
            <a:ext cx="5531155" cy="309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